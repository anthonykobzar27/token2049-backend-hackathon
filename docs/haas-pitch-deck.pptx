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12192000"/>
  <p:embeddedFontLst>
    <p:embeddedFont>
      <p:font typeface="Fredoka"/>
      <p:regular r:id="rId15"/>
      <p:bold r:id="rId16"/>
    </p:embeddedFont>
    <p:embeddedFont>
      <p:font typeface="Nunito"/>
      <p:regular r:id="rId17"/>
      <p:bold r:id="rId18"/>
      <p:italic r:id="rId19"/>
      <p:boldItalic r:id="rId20"/>
    </p:embeddedFont>
    <p:embeddedFont>
      <p:font typeface="DM Mono"/>
      <p:regular r:id="rId21"/>
      <p: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unito-boldItalic.fntdata"/><Relationship Id="rId11" Type="http://schemas.openxmlformats.org/officeDocument/2006/relationships/slide" Target="slides/slide7.xml"/><Relationship Id="rId22" Type="http://schemas.openxmlformats.org/officeDocument/2006/relationships/font" Target="fonts/DMMono-italic.fntdata"/><Relationship Id="rId10" Type="http://schemas.openxmlformats.org/officeDocument/2006/relationships/slide" Target="slides/slide6.xml"/><Relationship Id="rId21" Type="http://schemas.openxmlformats.org/officeDocument/2006/relationships/font" Target="fonts/DMMono-regular.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Fredoka-regular.fntdata"/><Relationship Id="rId14" Type="http://schemas.openxmlformats.org/officeDocument/2006/relationships/slide" Target="slides/slide10.xml"/><Relationship Id="rId17" Type="http://schemas.openxmlformats.org/officeDocument/2006/relationships/font" Target="fonts/Nunito-regular.fntdata"/><Relationship Id="rId16" Type="http://schemas.openxmlformats.org/officeDocument/2006/relationships/font" Target="fonts/Fredoka-bold.fntdata"/><Relationship Id="rId5" Type="http://schemas.openxmlformats.org/officeDocument/2006/relationships/slide" Target="slides/slide1.xml"/><Relationship Id="rId19" Type="http://schemas.openxmlformats.org/officeDocument/2006/relationships/font" Target="fonts/Nunito-italic.fntdata"/><Relationship Id="rId6" Type="http://schemas.openxmlformats.org/officeDocument/2006/relationships/slide" Target="slides/slide2.xml"/><Relationship Id="rId18" Type="http://schemas.openxmlformats.org/officeDocument/2006/relationships/font" Target="fonts/Nunito-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OPENING (about 15 seconds). "Hi everyone, we are HaaS, Human-as-a-Service. Agents think. We give them hands." Pause one beat, let the hand wave, then click to the problem.</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PROBLEM (about 25 seconds). "AI agents can research, write and code. But some jobs end with a person. A clinic that only takes phone calls. A package to pick up. When an agent hits that wall, three things break. It cannot pay a stranger in dollars. It cannot trust who shows up. And it cannot check the work was actually done." Click once per card as you name it.</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SOLUTION (about 15 seconds). "So we built one endpoint. Any agent. A verified human. HaaS is the exit from the agent world into the human world." Click through the four cards as you glance at them: AI first, open router, escrow, verifier. Do not read them out, the next slide explains each one.</a:t>
            </a:r>
            <a:endParaRPr/>
          </a:p>
        </p:txBody>
      </p:sp>
      <p:sp>
        <p:nvSpPr>
          <p:cNvPr id="45" name="Google Shape;4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SOURCING (about 25 seconds). "We do not build another worker marketplace. We work the ones that already exist. Our agent reads the listings on Fiverr, TaskRabbit, Prolific and crypto bounty boards, reaches out to people on your behalf, compares them on fit, price, hours and track record, and books the best match. Supply is already there. We make it callable by an agent." Clicks: sources, then the agent, then the result.</a:t>
            </a:r>
            <a:endParaRPr/>
          </a:p>
        </p:txBody>
      </p:sp>
      <p:sp>
        <p:nvSpPr>
          <p:cNvPr id="72" name="Google Shape;7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FLOW (about 25 seconds). "Here is how a task moves. The agent asks. We scout: our agent contacts people on those marketplaces for you and picks the best by place, hours, price and fit. The payment locks in Masumi escrow. The human delivers. An LLM verifier checks the result against a rubric. Pass, the human is paid. Fail, the agent is refunded. The answer lands back in the same thread." Clicks reveal steps 1 to 5, then the pass and refund banner.</a:t>
            </a:r>
            <a:endParaRPr/>
          </a:p>
        </p:txBody>
      </p:sp>
      <p:sp>
        <p:nvSpPr>
          <p:cNvPr id="95" name="Google Shape;9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EXAMPLE (about 35 seconds). "Let's make it real. You are stuck at work and need someone to wait in line at the DMV. You text your agent. A bot cannot stand in a line, so the agent scouts a verified waiter nearby at twenty-five dollars an hour and locks fifty dollars in escrow, enough for two hours. You say yes. The waiter sends live photos from the line, the verifier checks them, and you pay by the minute. One and a half hours in, thirty-seven fifty goes to the waiter and twelve fifty comes back to you. Paid in dollars, no crypto wallet needed." Clicks reveal the chat one message at a time, then the four steps on the right. Sample details are illustrative for the demo.</a:t>
            </a:r>
            <a:endParaRPr/>
          </a:p>
        </p:txBody>
      </p:sp>
      <p:sp>
        <p:nvSpPr>
          <p:cNvPr id="125" name="Google Shape;12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TECH (about 30 seconds). "Under the hood, four layers. Interface: a Telegram bot and a web dashboard. Router: chain agnostic. Trust: Masumi escrow, a Veridian verified-worker credential, and a verifier bound to a hash of the rubric, so nobody can change the question after the work is done. Payments: x402 on Cardano with USDM and USDCx, and Solana plugs in with USDC through a config switch. The product does not change when the chain does."</a:t>
            </a:r>
            <a:endParaRPr/>
          </a:p>
        </p:txBody>
      </p:sp>
      <p:sp>
        <p:nvSpPr>
          <p:cNvPr id="169" name="Google Shape;16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h49c5b91b8a04aa80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h49c5b91b8a04aa80_1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PAYMENTS (about 30 seconds). "Payments run on x402. The agent calls our endpoint, the server answers with HTTP 402 and a price, the agent pays on chain and retries, and the work starts. No accounts, no API keys. On Cardano we use USDM and USDCx through Masumi, which gives us escrow, refunds, disputes and agent identity, plus a Veridian credential for verified workers. Solana plugs in with USDC on Devnet and Mainnet Beta through a config switch, and funds release only after our verifier passes the result. The product does not change when the chain does." Clicks reveal the four steps, then x402, Cardano and Solana, then the closing line. Say the Solana line only if the Solana run works in your demo.</a:t>
            </a:r>
            <a:endParaRPr/>
          </a:p>
        </p:txBody>
      </p:sp>
      <p:sp>
        <p:nvSpPr>
          <p:cNvPr id="192" name="Google Shape;192;h49c5b91b8a04aa80_1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(about 60 to 90 seconds). Say: "Enough slides. Let me show you." Switch to the phone or laptop, text the agent the clinic booking task, and narrate three beats: it scouts, the escrow locks, the payment releases. Keep a screen recording of a successful run ready as a backup in case wifi or a marketplace is slow. If the live run stalls, say "here is the same run from earlier" and play it.</a:t>
            </a:r>
            <a:endParaRPr/>
          </a:p>
        </p:txBody>
      </p:sp>
      <p:sp>
        <p:nvSpPr>
          <p:cNvPr id="225" name="Google Shape;22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 UP (about 15 seconds). "Any agent. Any task. A verified human. We scout, we lock, we verify. Agents think. We give them hands. We are HaaS. Thank you." Hit the three pills one beat each, then stop on the title and smile. Leave the hand waving while you take questions.</a:t>
            </a:r>
            <a:endParaRPr/>
          </a:p>
        </p:txBody>
      </p:sp>
      <p:sp>
        <p:nvSpPr>
          <p:cNvPr id="233" name="Google Shape;23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E8E9"/>
        </a:solidFill>
      </p:bgPr>
    </p:bg>
    <p:spTree>
      <p:nvGrpSpPr>
        <p:cNvPr id="15" name="Shape 15"/>
        <p:cNvGrpSpPr/>
        <p:nvPr/>
      </p:nvGrpSpPr>
      <p:grpSpPr>
        <a:xfrm>
          <a:off x="0" y="0"/>
          <a:ext cx="0" cy="0"/>
          <a:chOff x="0" y="0"/>
          <a:chExt cx="0" cy="0"/>
        </a:xfrm>
      </p:grpSpPr>
      <p:sp>
        <p:nvSpPr>
          <p:cNvPr id="16" name="Google Shape;16;p3"/>
          <p:cNvSpPr/>
          <p:nvPr/>
        </p:nvSpPr>
        <p:spPr>
          <a:xfrm>
            <a:off x="9398000" y="609600"/>
            <a:ext cx="1524000" cy="1524000"/>
          </a:xfrm>
          <a:prstGeom prst="roundRect">
            <a:avLst>
              <a:gd fmla="val 50000" name="adj"/>
            </a:avLst>
          </a:prstGeom>
          <a:solidFill>
            <a:srgbClr val="E3B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7112000" y="762000"/>
            <a:ext cx="558800" cy="558800"/>
          </a:xfrm>
          <a:prstGeom prst="roundRect">
            <a:avLst>
              <a:gd fmla="val 50000" name="adj"/>
            </a:avLst>
          </a:prstGeom>
          <a:solidFill>
            <a:srgbClr val="BC9E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9906000" y="4826000"/>
            <a:ext cx="889000" cy="889000"/>
          </a:xfrm>
          <a:prstGeom prst="roundRect">
            <a:avLst>
              <a:gd fmla="val 50000" name="adj"/>
            </a:avLst>
          </a:prstGeom>
          <a:solidFill>
            <a:srgbClr val="E3B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812800" y="1879600"/>
            <a:ext cx="5338200" cy="20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232"/>
              </a:buClr>
              <a:buSzPts val="16000"/>
              <a:buFont typeface="Fredoka"/>
              <a:buNone/>
            </a:pPr>
            <a:r>
              <a:rPr b="1" i="0" lang="en-US" sz="16000" u="none" cap="none" strike="noStrike">
                <a:solidFill>
                  <a:srgbClr val="1F2232"/>
                </a:solidFill>
                <a:latin typeface="Fredoka"/>
                <a:ea typeface="Fredoka"/>
                <a:cs typeface="Fredoka"/>
                <a:sym typeface="Fredoka"/>
              </a:rPr>
              <a:t>HaaS</a:t>
            </a:r>
            <a:endParaRPr b="0" i="0" sz="16000" u="none" cap="none" strike="noStrike">
              <a:solidFill>
                <a:schemeClr val="dk1"/>
              </a:solidFill>
              <a:latin typeface="Calibri"/>
              <a:ea typeface="Calibri"/>
              <a:cs typeface="Calibri"/>
              <a:sym typeface="Calibri"/>
            </a:endParaRPr>
          </a:p>
        </p:txBody>
      </p:sp>
      <p:sp>
        <p:nvSpPr>
          <p:cNvPr id="20" name="Google Shape;20;p3"/>
          <p:cNvSpPr/>
          <p:nvPr/>
        </p:nvSpPr>
        <p:spPr>
          <a:xfrm>
            <a:off x="812800" y="3987800"/>
            <a:ext cx="10883392"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2232"/>
              </a:buClr>
              <a:buSzPts val="4000"/>
              <a:buFont typeface="Fredoka"/>
              <a:buNone/>
            </a:pPr>
            <a:r>
              <a:rPr b="0" i="0" lang="en-US" sz="4000" u="none" cap="none" strike="noStrike">
                <a:solidFill>
                  <a:srgbClr val="1F2232"/>
                </a:solidFill>
                <a:latin typeface="Fredoka"/>
                <a:ea typeface="Fredoka"/>
                <a:cs typeface="Fredoka"/>
                <a:sym typeface="Fredoka"/>
              </a:rPr>
              <a:t>Human-as-a-Service</a:t>
            </a:r>
            <a:endParaRPr b="0" i="0" sz="4000" u="none" cap="none" strike="noStrike">
              <a:solidFill>
                <a:schemeClr val="dk1"/>
              </a:solidFill>
              <a:latin typeface="Calibri"/>
              <a:ea typeface="Calibri"/>
              <a:cs typeface="Calibri"/>
              <a:sym typeface="Calibri"/>
            </a:endParaRPr>
          </a:p>
        </p:txBody>
      </p:sp>
      <p:sp>
        <p:nvSpPr>
          <p:cNvPr id="21" name="Google Shape;21;p3"/>
          <p:cNvSpPr/>
          <p:nvPr/>
        </p:nvSpPr>
        <p:spPr>
          <a:xfrm>
            <a:off x="812800" y="4622800"/>
            <a:ext cx="575564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2000"/>
              <a:buFont typeface="Nunito"/>
              <a:buNone/>
            </a:pPr>
            <a:r>
              <a:rPr b="0" i="0" lang="en-US" sz="2000" u="none" cap="none" strike="noStrike">
                <a:solidFill>
                  <a:srgbClr val="596475"/>
                </a:solidFill>
                <a:latin typeface="Nunito"/>
                <a:ea typeface="Nunito"/>
                <a:cs typeface="Nunito"/>
                <a:sym typeface="Nunito"/>
              </a:rPr>
              <a:t>Agents think. We give them hands.</a:t>
            </a:r>
            <a:endParaRPr b="0" i="0" sz="2000" u="none" cap="none" strike="noStrike">
              <a:solidFill>
                <a:schemeClr val="dk1"/>
              </a:solidFill>
              <a:latin typeface="Calibri"/>
              <a:ea typeface="Calibri"/>
              <a:cs typeface="Calibri"/>
              <a:sym typeface="Calibri"/>
            </a:endParaRPr>
          </a:p>
        </p:txBody>
      </p:sp>
      <p:pic>
        <p:nvPicPr>
          <p:cNvPr id="22" name="Google Shape;22;p3" title="haas-hand-wave (1).gif"/>
          <p:cNvPicPr preferRelativeResize="0"/>
          <p:nvPr/>
        </p:nvPicPr>
        <p:blipFill>
          <a:blip r:embed="rId3">
            <a:alphaModFix/>
          </a:blip>
          <a:stretch>
            <a:fillRect/>
          </a:stretch>
        </p:blipFill>
        <p:spPr>
          <a:xfrm>
            <a:off x="6903350" y="1109725"/>
            <a:ext cx="4508500" cy="4508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E8E9"/>
        </a:solidFill>
      </p:bgPr>
    </p:bg>
    <p:spTree>
      <p:nvGrpSpPr>
        <p:cNvPr id="27" name="Shape 27"/>
        <p:cNvGrpSpPr/>
        <p:nvPr/>
      </p:nvGrpSpPr>
      <p:grpSpPr>
        <a:xfrm>
          <a:off x="0" y="0"/>
          <a:ext cx="0" cy="0"/>
          <a:chOff x="0" y="0"/>
          <a:chExt cx="0" cy="0"/>
        </a:xfrm>
      </p:grpSpPr>
      <p:sp>
        <p:nvSpPr>
          <p:cNvPr id="28" name="Google Shape;28;p4"/>
          <p:cNvSpPr/>
          <p:nvPr/>
        </p:nvSpPr>
        <p:spPr>
          <a:xfrm>
            <a:off x="812800" y="812800"/>
            <a:ext cx="1405711"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300"/>
              <a:buFont typeface="Nunito"/>
              <a:buNone/>
            </a:pPr>
            <a:r>
              <a:rPr b="1" i="0" lang="en-US" sz="1300" u="none" cap="none" strike="noStrike">
                <a:solidFill>
                  <a:srgbClr val="596475"/>
                </a:solidFill>
                <a:latin typeface="Nunito"/>
                <a:ea typeface="Nunito"/>
                <a:cs typeface="Nunito"/>
                <a:sym typeface="Nunito"/>
              </a:rPr>
              <a:t>THE PROBLEM</a:t>
            </a:r>
            <a:endParaRPr b="0" i="0" sz="1300" u="none" cap="none" strike="noStrike">
              <a:solidFill>
                <a:schemeClr val="dk1"/>
              </a:solidFill>
              <a:latin typeface="Calibri"/>
              <a:ea typeface="Calibri"/>
              <a:cs typeface="Calibri"/>
              <a:sym typeface="Calibri"/>
            </a:endParaRPr>
          </a:p>
        </p:txBody>
      </p:sp>
      <p:sp>
        <p:nvSpPr>
          <p:cNvPr id="29" name="Google Shape;29;p4"/>
          <p:cNvSpPr/>
          <p:nvPr/>
        </p:nvSpPr>
        <p:spPr>
          <a:xfrm>
            <a:off x="812800" y="1221730"/>
            <a:ext cx="10883392" cy="6400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2232"/>
              </a:buClr>
              <a:buSzPts val="4400"/>
              <a:buFont typeface="Fredoka"/>
              <a:buNone/>
            </a:pPr>
            <a:r>
              <a:rPr b="1" i="0" lang="en-US" sz="4400" u="none" cap="none" strike="noStrike">
                <a:solidFill>
                  <a:srgbClr val="1F2232"/>
                </a:solidFill>
                <a:latin typeface="Fredoka"/>
                <a:ea typeface="Fredoka"/>
                <a:cs typeface="Fredoka"/>
                <a:sym typeface="Fredoka"/>
              </a:rPr>
              <a:t>Agents </a:t>
            </a:r>
            <a:r>
              <a:rPr b="1" lang="en-US" sz="4400">
                <a:solidFill>
                  <a:srgbClr val="1F2232"/>
                </a:solidFill>
                <a:latin typeface="Fredoka"/>
                <a:ea typeface="Fredoka"/>
                <a:cs typeface="Fredoka"/>
                <a:sym typeface="Fredoka"/>
              </a:rPr>
              <a:t>stop</a:t>
            </a:r>
            <a:r>
              <a:rPr b="1" i="0" lang="en-US" sz="4400" u="none" cap="none" strike="noStrike">
                <a:solidFill>
                  <a:srgbClr val="1F2232"/>
                </a:solidFill>
                <a:latin typeface="Fredoka"/>
                <a:ea typeface="Fredoka"/>
                <a:cs typeface="Fredoka"/>
                <a:sym typeface="Fredoka"/>
              </a:rPr>
              <a:t> at the human edge</a:t>
            </a:r>
            <a:endParaRPr b="0" i="0" sz="4400" u="none" cap="none" strike="noStrike">
              <a:solidFill>
                <a:schemeClr val="dk1"/>
              </a:solidFill>
              <a:latin typeface="Calibri"/>
              <a:ea typeface="Calibri"/>
              <a:cs typeface="Calibri"/>
              <a:sym typeface="Calibri"/>
            </a:endParaRPr>
          </a:p>
        </p:txBody>
      </p:sp>
      <p:sp>
        <p:nvSpPr>
          <p:cNvPr id="30" name="Google Shape;30;p4"/>
          <p:cNvSpPr/>
          <p:nvPr/>
        </p:nvSpPr>
        <p:spPr>
          <a:xfrm>
            <a:off x="819150" y="2546350"/>
            <a:ext cx="3340100" cy="2781300"/>
          </a:xfrm>
          <a:prstGeom prst="roundRect">
            <a:avLst>
              <a:gd fmla="val 10731" name="adj"/>
            </a:avLst>
          </a:prstGeom>
          <a:solidFill>
            <a:srgbClr val="FFFCFC"/>
          </a:solidFill>
          <a:ln cap="flat" cmpd="sng" w="12700">
            <a:solidFill>
              <a:srgbClr val="F3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1130300" y="2857500"/>
            <a:ext cx="492770" cy="325090"/>
          </a:xfrm>
          <a:custGeom>
            <a:rect b="b" l="l" r="r" t="t"/>
            <a:pathLst>
              <a:path extrusionOk="0" h="325090" w="492770">
                <a:moveTo>
                  <a:pt x="162545" y="0"/>
                </a:moveTo>
                <a:lnTo>
                  <a:pt x="330225" y="0"/>
                </a:lnTo>
                <a:cubicBezTo>
                  <a:pt x="373335" y="0"/>
                  <a:pt x="414679" y="17125"/>
                  <a:pt x="445162" y="47608"/>
                </a:cubicBezTo>
                <a:cubicBezTo>
                  <a:pt x="475645" y="78091"/>
                  <a:pt x="492770" y="119435"/>
                  <a:pt x="492770" y="162545"/>
                </a:cubicBezTo>
                <a:lnTo>
                  <a:pt x="492770" y="162545"/>
                </a:lnTo>
                <a:cubicBezTo>
                  <a:pt x="492770" y="252316"/>
                  <a:pt x="419996" y="325090"/>
                  <a:pt x="330225" y="325090"/>
                </a:cubicBezTo>
                <a:lnTo>
                  <a:pt x="162545" y="325090"/>
                </a:lnTo>
                <a:cubicBezTo>
                  <a:pt x="72774" y="325090"/>
                  <a:pt x="0" y="252316"/>
                  <a:pt x="0" y="162545"/>
                </a:cubicBezTo>
                <a:lnTo>
                  <a:pt x="0" y="162545"/>
                </a:lnTo>
                <a:cubicBezTo>
                  <a:pt x="0" y="72774"/>
                  <a:pt x="72774" y="0"/>
                  <a:pt x="162545" y="0"/>
                </a:cubicBezTo>
                <a:close/>
              </a:path>
            </a:pathLst>
          </a:custGeom>
          <a:solidFill>
            <a:srgbClr val="FFD9DE"/>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7A1B2D"/>
              </a:buClr>
              <a:buSzPts val="1400"/>
              <a:buFont typeface="Nunito"/>
              <a:buNone/>
            </a:pPr>
            <a:r>
              <a:rPr b="1" i="0" lang="en-US" sz="1400" u="none" cap="none" strike="noStrike">
                <a:solidFill>
                  <a:srgbClr val="7A1B2D"/>
                </a:solidFill>
                <a:latin typeface="Nunito"/>
                <a:ea typeface="Nunito"/>
                <a:cs typeface="Nunito"/>
                <a:sym typeface="Nunito"/>
              </a:rPr>
              <a:t>01</a:t>
            </a:r>
            <a:endParaRPr b="0" i="0" sz="1400" u="none" cap="none" strike="noStrike">
              <a:solidFill>
                <a:schemeClr val="dk1"/>
              </a:solidFill>
              <a:latin typeface="Calibri"/>
              <a:ea typeface="Calibri"/>
              <a:cs typeface="Calibri"/>
              <a:sym typeface="Calibri"/>
            </a:endParaRPr>
          </a:p>
        </p:txBody>
      </p:sp>
      <p:sp>
        <p:nvSpPr>
          <p:cNvPr id="32" name="Google Shape;32;p4"/>
          <p:cNvSpPr/>
          <p:nvPr/>
        </p:nvSpPr>
        <p:spPr>
          <a:xfrm>
            <a:off x="1130300" y="3309590"/>
            <a:ext cx="2799334" cy="4520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2"/>
              </a:buClr>
              <a:buSzPts val="2800"/>
              <a:buFont typeface="Fredoka"/>
              <a:buNone/>
            </a:pPr>
            <a:r>
              <a:rPr b="1" i="0" lang="en-US" sz="2800" u="none" cap="none" strike="noStrike">
                <a:solidFill>
                  <a:srgbClr val="1F2232"/>
                </a:solidFill>
                <a:latin typeface="Fredoka"/>
                <a:ea typeface="Fredoka"/>
                <a:cs typeface="Fredoka"/>
                <a:sym typeface="Fredoka"/>
              </a:rPr>
              <a:t>Cannot </a:t>
            </a:r>
            <a:r>
              <a:rPr b="1" lang="en-US" sz="2800">
                <a:solidFill>
                  <a:srgbClr val="1F2232"/>
                </a:solidFill>
                <a:latin typeface="Fredoka"/>
                <a:ea typeface="Fredoka"/>
                <a:cs typeface="Fredoka"/>
                <a:sym typeface="Fredoka"/>
              </a:rPr>
              <a:t>be there</a:t>
            </a:r>
            <a:endParaRPr b="0" i="0" sz="2800" u="none" cap="none" strike="noStrike">
              <a:solidFill>
                <a:schemeClr val="dk1"/>
              </a:solidFill>
              <a:latin typeface="Calibri"/>
              <a:ea typeface="Calibri"/>
              <a:cs typeface="Calibri"/>
              <a:sym typeface="Calibri"/>
            </a:endParaRPr>
          </a:p>
        </p:txBody>
      </p:sp>
      <p:sp>
        <p:nvSpPr>
          <p:cNvPr id="33" name="Google Shape;33;p4"/>
          <p:cNvSpPr/>
          <p:nvPr/>
        </p:nvSpPr>
        <p:spPr>
          <a:xfrm>
            <a:off x="1130300" y="3863280"/>
            <a:ext cx="2799334" cy="8787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600"/>
              <a:buFont typeface="Nunito"/>
              <a:buNone/>
            </a:pPr>
            <a:r>
              <a:rPr lang="en-US" sz="1600">
                <a:solidFill>
                  <a:srgbClr val="596475"/>
                </a:solidFill>
                <a:latin typeface="Nunito"/>
                <a:ea typeface="Nunito"/>
                <a:cs typeface="Nunito"/>
                <a:sym typeface="Nunito"/>
              </a:rPr>
              <a:t>The listing needs the apartment photographed in daylight. No agent can show up.</a:t>
            </a:r>
            <a:endParaRPr b="0" i="0" sz="1600" u="none" cap="none" strike="noStrike">
              <a:solidFill>
                <a:schemeClr val="dk1"/>
              </a:solidFill>
              <a:latin typeface="Calibri"/>
              <a:ea typeface="Calibri"/>
              <a:cs typeface="Calibri"/>
              <a:sym typeface="Calibri"/>
            </a:endParaRPr>
          </a:p>
        </p:txBody>
      </p:sp>
      <p:sp>
        <p:nvSpPr>
          <p:cNvPr id="34" name="Google Shape;34;p4"/>
          <p:cNvSpPr/>
          <p:nvPr/>
        </p:nvSpPr>
        <p:spPr>
          <a:xfrm>
            <a:off x="4425950" y="2546350"/>
            <a:ext cx="3340100" cy="2781300"/>
          </a:xfrm>
          <a:prstGeom prst="roundRect">
            <a:avLst>
              <a:gd fmla="val 10731" name="adj"/>
            </a:avLst>
          </a:prstGeom>
          <a:solidFill>
            <a:srgbClr val="FFFCFC"/>
          </a:solidFill>
          <a:ln cap="flat" cmpd="sng" w="12700">
            <a:solidFill>
              <a:srgbClr val="F3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4737100" y="2857500"/>
            <a:ext cx="492770" cy="325090"/>
          </a:xfrm>
          <a:custGeom>
            <a:rect b="b" l="l" r="r" t="t"/>
            <a:pathLst>
              <a:path extrusionOk="0" h="325090" w="492770">
                <a:moveTo>
                  <a:pt x="162545" y="0"/>
                </a:moveTo>
                <a:lnTo>
                  <a:pt x="330225" y="0"/>
                </a:lnTo>
                <a:cubicBezTo>
                  <a:pt x="373335" y="0"/>
                  <a:pt x="414679" y="17125"/>
                  <a:pt x="445162" y="47608"/>
                </a:cubicBezTo>
                <a:cubicBezTo>
                  <a:pt x="475645" y="78091"/>
                  <a:pt x="492770" y="119435"/>
                  <a:pt x="492770" y="162545"/>
                </a:cubicBezTo>
                <a:lnTo>
                  <a:pt x="492770" y="162545"/>
                </a:lnTo>
                <a:cubicBezTo>
                  <a:pt x="492770" y="252316"/>
                  <a:pt x="419996" y="325090"/>
                  <a:pt x="330225" y="325090"/>
                </a:cubicBezTo>
                <a:lnTo>
                  <a:pt x="162545" y="325090"/>
                </a:lnTo>
                <a:cubicBezTo>
                  <a:pt x="72774" y="325090"/>
                  <a:pt x="0" y="252316"/>
                  <a:pt x="0" y="162545"/>
                </a:cubicBezTo>
                <a:lnTo>
                  <a:pt x="0" y="162545"/>
                </a:lnTo>
                <a:cubicBezTo>
                  <a:pt x="0" y="72774"/>
                  <a:pt x="72774" y="0"/>
                  <a:pt x="162545" y="0"/>
                </a:cubicBezTo>
                <a:close/>
              </a:path>
            </a:pathLst>
          </a:custGeom>
          <a:solidFill>
            <a:srgbClr val="FFF1BF"/>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5C4300"/>
              </a:buClr>
              <a:buSzPts val="1400"/>
              <a:buFont typeface="Nunito"/>
              <a:buNone/>
            </a:pPr>
            <a:r>
              <a:rPr b="1" i="0" lang="en-US" sz="1400" u="none" cap="none" strike="noStrike">
                <a:solidFill>
                  <a:srgbClr val="5C4300"/>
                </a:solidFill>
                <a:latin typeface="Nunito"/>
                <a:ea typeface="Nunito"/>
                <a:cs typeface="Nunito"/>
                <a:sym typeface="Nunito"/>
              </a:rPr>
              <a:t>02</a:t>
            </a:r>
            <a:endParaRPr b="0" i="0" sz="1400" u="none" cap="none" strike="noStrike">
              <a:solidFill>
                <a:schemeClr val="dk1"/>
              </a:solidFill>
              <a:latin typeface="Calibri"/>
              <a:ea typeface="Calibri"/>
              <a:cs typeface="Calibri"/>
              <a:sym typeface="Calibri"/>
            </a:endParaRPr>
          </a:p>
        </p:txBody>
      </p:sp>
      <p:sp>
        <p:nvSpPr>
          <p:cNvPr id="36" name="Google Shape;36;p4"/>
          <p:cNvSpPr/>
          <p:nvPr/>
        </p:nvSpPr>
        <p:spPr>
          <a:xfrm>
            <a:off x="4737100" y="3309590"/>
            <a:ext cx="2799334" cy="4520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2"/>
              </a:buClr>
              <a:buSzPts val="2800"/>
              <a:buFont typeface="Fredoka"/>
              <a:buNone/>
            </a:pPr>
            <a:r>
              <a:rPr b="1" i="0" lang="en-US" sz="2800" u="none" cap="none" strike="noStrike">
                <a:solidFill>
                  <a:srgbClr val="1F2232"/>
                </a:solidFill>
                <a:latin typeface="Fredoka"/>
                <a:ea typeface="Fredoka"/>
                <a:cs typeface="Fredoka"/>
                <a:sym typeface="Fredoka"/>
              </a:rPr>
              <a:t>Cannot </a:t>
            </a:r>
            <a:r>
              <a:rPr b="1" lang="en-US" sz="2800">
                <a:solidFill>
                  <a:srgbClr val="1F2232"/>
                </a:solidFill>
                <a:latin typeface="Fredoka"/>
                <a:ea typeface="Fredoka"/>
                <a:cs typeface="Fredoka"/>
                <a:sym typeface="Fredoka"/>
              </a:rPr>
              <a:t>fix</a:t>
            </a:r>
            <a:endParaRPr b="0" i="0" sz="2800" u="none" cap="none" strike="noStrike">
              <a:solidFill>
                <a:schemeClr val="dk1"/>
              </a:solidFill>
              <a:latin typeface="Calibri"/>
              <a:ea typeface="Calibri"/>
              <a:cs typeface="Calibri"/>
              <a:sym typeface="Calibri"/>
            </a:endParaRPr>
          </a:p>
        </p:txBody>
      </p:sp>
      <p:sp>
        <p:nvSpPr>
          <p:cNvPr id="37" name="Google Shape;37;p4"/>
          <p:cNvSpPr/>
          <p:nvPr/>
        </p:nvSpPr>
        <p:spPr>
          <a:xfrm>
            <a:off x="4737100" y="3863280"/>
            <a:ext cx="2799334" cy="8787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600"/>
              <a:buFont typeface="Nunito"/>
              <a:buNone/>
            </a:pPr>
            <a:r>
              <a:rPr lang="en-US" sz="1600">
                <a:solidFill>
                  <a:srgbClr val="596475"/>
                </a:solidFill>
                <a:latin typeface="Nunito"/>
                <a:ea typeface="Nunito"/>
                <a:cs typeface="Nunito"/>
                <a:sym typeface="Nunito"/>
              </a:rPr>
              <a:t>The office router is dead and the team is offline. No agent can power-cycle it.</a:t>
            </a:r>
            <a:endParaRPr b="0" i="0" sz="1600" u="none" cap="none" strike="noStrike">
              <a:solidFill>
                <a:schemeClr val="dk1"/>
              </a:solidFill>
              <a:latin typeface="Calibri"/>
              <a:ea typeface="Calibri"/>
              <a:cs typeface="Calibri"/>
              <a:sym typeface="Calibri"/>
            </a:endParaRPr>
          </a:p>
        </p:txBody>
      </p:sp>
      <p:sp>
        <p:nvSpPr>
          <p:cNvPr id="38" name="Google Shape;38;p4"/>
          <p:cNvSpPr/>
          <p:nvPr/>
        </p:nvSpPr>
        <p:spPr>
          <a:xfrm>
            <a:off x="8032750" y="2546350"/>
            <a:ext cx="3340100" cy="2781300"/>
          </a:xfrm>
          <a:prstGeom prst="roundRect">
            <a:avLst>
              <a:gd fmla="val 10731" name="adj"/>
            </a:avLst>
          </a:prstGeom>
          <a:solidFill>
            <a:srgbClr val="FFFCFC"/>
          </a:solidFill>
          <a:ln cap="flat" cmpd="sng" w="12700">
            <a:solidFill>
              <a:srgbClr val="F3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8343900" y="2857500"/>
            <a:ext cx="492770" cy="325090"/>
          </a:xfrm>
          <a:custGeom>
            <a:rect b="b" l="l" r="r" t="t"/>
            <a:pathLst>
              <a:path extrusionOk="0" h="325090" w="492770">
                <a:moveTo>
                  <a:pt x="162545" y="0"/>
                </a:moveTo>
                <a:lnTo>
                  <a:pt x="330225" y="0"/>
                </a:lnTo>
                <a:cubicBezTo>
                  <a:pt x="373335" y="0"/>
                  <a:pt x="414679" y="17125"/>
                  <a:pt x="445162" y="47608"/>
                </a:cubicBezTo>
                <a:cubicBezTo>
                  <a:pt x="475645" y="78091"/>
                  <a:pt x="492770" y="119435"/>
                  <a:pt x="492770" y="162545"/>
                </a:cubicBezTo>
                <a:lnTo>
                  <a:pt x="492770" y="162545"/>
                </a:lnTo>
                <a:cubicBezTo>
                  <a:pt x="492770" y="252316"/>
                  <a:pt x="419996" y="325090"/>
                  <a:pt x="330225" y="325090"/>
                </a:cubicBezTo>
                <a:lnTo>
                  <a:pt x="162545" y="325090"/>
                </a:lnTo>
                <a:cubicBezTo>
                  <a:pt x="72774" y="325090"/>
                  <a:pt x="0" y="252316"/>
                  <a:pt x="0" y="162545"/>
                </a:cubicBezTo>
                <a:lnTo>
                  <a:pt x="0" y="162545"/>
                </a:lnTo>
                <a:cubicBezTo>
                  <a:pt x="0" y="72774"/>
                  <a:pt x="72774" y="0"/>
                  <a:pt x="162545" y="0"/>
                </a:cubicBezTo>
                <a:close/>
              </a:path>
            </a:pathLst>
          </a:custGeom>
          <a:solidFill>
            <a:srgbClr val="FFD9DE"/>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7A1B2D"/>
              </a:buClr>
              <a:buSzPts val="1400"/>
              <a:buFont typeface="Nunito"/>
              <a:buNone/>
            </a:pPr>
            <a:r>
              <a:rPr b="1" i="0" lang="en-US" sz="1400" u="none" cap="none" strike="noStrike">
                <a:solidFill>
                  <a:srgbClr val="7A1B2D"/>
                </a:solidFill>
                <a:latin typeface="Nunito"/>
                <a:ea typeface="Nunito"/>
                <a:cs typeface="Nunito"/>
                <a:sym typeface="Nunito"/>
              </a:rPr>
              <a:t>03</a:t>
            </a:r>
            <a:endParaRPr b="0" i="0" sz="1400" u="none" cap="none" strike="noStrike">
              <a:solidFill>
                <a:schemeClr val="dk1"/>
              </a:solidFill>
              <a:latin typeface="Calibri"/>
              <a:ea typeface="Calibri"/>
              <a:cs typeface="Calibri"/>
              <a:sym typeface="Calibri"/>
            </a:endParaRPr>
          </a:p>
        </p:txBody>
      </p:sp>
      <p:sp>
        <p:nvSpPr>
          <p:cNvPr id="40" name="Google Shape;40;p4"/>
          <p:cNvSpPr/>
          <p:nvPr/>
        </p:nvSpPr>
        <p:spPr>
          <a:xfrm>
            <a:off x="8343900" y="3309590"/>
            <a:ext cx="2799334" cy="4520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2"/>
              </a:buClr>
              <a:buSzPts val="2800"/>
              <a:buFont typeface="Fredoka"/>
              <a:buNone/>
            </a:pPr>
            <a:r>
              <a:rPr b="1" i="0" lang="en-US" sz="2800" u="none" cap="none" strike="noStrike">
                <a:solidFill>
                  <a:srgbClr val="1F2232"/>
                </a:solidFill>
                <a:latin typeface="Fredoka"/>
                <a:ea typeface="Fredoka"/>
                <a:cs typeface="Fredoka"/>
                <a:sym typeface="Fredoka"/>
              </a:rPr>
              <a:t>Cannot </a:t>
            </a:r>
            <a:r>
              <a:rPr b="1" lang="en-US" sz="2800">
                <a:solidFill>
                  <a:srgbClr val="1F2232"/>
                </a:solidFill>
                <a:latin typeface="Fredoka"/>
                <a:ea typeface="Fredoka"/>
                <a:cs typeface="Fredoka"/>
                <a:sym typeface="Fredoka"/>
              </a:rPr>
              <a:t>pick up</a:t>
            </a:r>
            <a:endParaRPr b="0" i="0" sz="2800" u="none" cap="none" strike="noStrike">
              <a:solidFill>
                <a:schemeClr val="dk1"/>
              </a:solidFill>
              <a:latin typeface="Calibri"/>
              <a:ea typeface="Calibri"/>
              <a:cs typeface="Calibri"/>
              <a:sym typeface="Calibri"/>
            </a:endParaRPr>
          </a:p>
        </p:txBody>
      </p:sp>
      <p:sp>
        <p:nvSpPr>
          <p:cNvPr id="41" name="Google Shape;41;p4"/>
          <p:cNvSpPr/>
          <p:nvPr/>
        </p:nvSpPr>
        <p:spPr>
          <a:xfrm>
            <a:off x="8343900" y="3863280"/>
            <a:ext cx="2799334" cy="8787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600"/>
              <a:buFont typeface="Nunito"/>
              <a:buNone/>
            </a:pPr>
            <a:r>
              <a:rPr lang="en-US" sz="1600">
                <a:solidFill>
                  <a:srgbClr val="596475"/>
                </a:solidFill>
                <a:latin typeface="Nunito"/>
                <a:ea typeface="Nunito"/>
                <a:cs typeface="Nunito"/>
                <a:sym typeface="Nunito"/>
              </a:rPr>
              <a:t>The parcel sits in a locker across town. No agent has hands.</a:t>
            </a:r>
            <a:endParaRPr sz="1600">
              <a:solidFill>
                <a:srgbClr val="596475"/>
              </a:solidFill>
              <a:latin typeface="Nunito"/>
              <a:ea typeface="Nunito"/>
              <a:cs typeface="Nunito"/>
              <a:sym typeface="Nunito"/>
            </a:endParaRPr>
          </a:p>
          <a:p>
            <a:pPr indent="0" lvl="0" marL="0" marR="0" rtl="0" algn="l">
              <a:lnSpc>
                <a:spcPct val="140000"/>
              </a:lnSpc>
              <a:spcBef>
                <a:spcPts val="0"/>
              </a:spcBef>
              <a:spcAft>
                <a:spcPts val="0"/>
              </a:spcAft>
              <a:buClr>
                <a:srgbClr val="596475"/>
              </a:buClr>
              <a:buSzPts val="1600"/>
              <a:buFont typeface="Nunito"/>
              <a:buNone/>
            </a:pPr>
            <a:r>
              <a:t/>
            </a:r>
            <a:endParaRPr sz="1600">
              <a:solidFill>
                <a:srgbClr val="596475"/>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232"/>
        </a:solidFill>
      </p:bgPr>
    </p:bg>
    <p:spTree>
      <p:nvGrpSpPr>
        <p:cNvPr id="46" name="Shape 46"/>
        <p:cNvGrpSpPr/>
        <p:nvPr/>
      </p:nvGrpSpPr>
      <p:grpSpPr>
        <a:xfrm>
          <a:off x="0" y="0"/>
          <a:ext cx="0" cy="0"/>
          <a:chOff x="0" y="0"/>
          <a:chExt cx="0" cy="0"/>
        </a:xfrm>
      </p:grpSpPr>
      <p:sp>
        <p:nvSpPr>
          <p:cNvPr id="47" name="Google Shape;47;p5"/>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BAC6"/>
              </a:buClr>
              <a:buSzPts val="1300"/>
              <a:buFont typeface="Nunito"/>
              <a:buNone/>
            </a:pPr>
            <a:r>
              <a:rPr b="1" i="0" lang="en-US" sz="1300" u="none" cap="none" strike="noStrike">
                <a:solidFill>
                  <a:srgbClr val="E3BAC6"/>
                </a:solidFill>
                <a:latin typeface="Nunito"/>
                <a:ea typeface="Nunito"/>
                <a:cs typeface="Nunito"/>
                <a:sym typeface="Nunito"/>
              </a:rPr>
              <a:t>THE SOLUTION</a:t>
            </a:r>
            <a:endParaRPr b="0" i="0" sz="1300" u="none" cap="none" strike="noStrike">
              <a:solidFill>
                <a:schemeClr val="dk1"/>
              </a:solidFill>
              <a:latin typeface="Calibri"/>
              <a:ea typeface="Calibri"/>
              <a:cs typeface="Calibri"/>
              <a:sym typeface="Calibri"/>
            </a:endParaRPr>
          </a:p>
        </p:txBody>
      </p:sp>
      <p:sp>
        <p:nvSpPr>
          <p:cNvPr id="48" name="Google Shape;48;p5"/>
          <p:cNvSpPr/>
          <p:nvPr/>
        </p:nvSpPr>
        <p:spPr>
          <a:xfrm>
            <a:off x="812800" y="1221730"/>
            <a:ext cx="10883392" cy="14224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DE8E9"/>
              </a:buClr>
              <a:buSzPts val="5000"/>
              <a:buFont typeface="Fredoka"/>
              <a:buNone/>
            </a:pPr>
            <a:r>
              <a:rPr b="1" i="0" lang="en-US" sz="5000" u="none" cap="none" strike="noStrike">
                <a:solidFill>
                  <a:srgbClr val="FDE8E9"/>
                </a:solidFill>
                <a:latin typeface="Fredoka"/>
                <a:ea typeface="Fredoka"/>
                <a:cs typeface="Fredoka"/>
                <a:sym typeface="Fredoka"/>
              </a:rPr>
              <a:t>One endpoint</a:t>
            </a:r>
            <a:r>
              <a:rPr b="1" lang="en-US" sz="5000">
                <a:solidFill>
                  <a:srgbClr val="FDE8E9"/>
                </a:solidFill>
                <a:latin typeface="Fredoka"/>
                <a:ea typeface="Fredoka"/>
                <a:cs typeface="Fredoka"/>
                <a:sym typeface="Fredoka"/>
              </a:rPr>
              <a:t> for </a:t>
            </a:r>
            <a:r>
              <a:rPr b="1" i="0" lang="en-US" sz="5000" u="none" cap="none" strike="noStrike">
                <a:solidFill>
                  <a:srgbClr val="FDE8E9"/>
                </a:solidFill>
                <a:latin typeface="Fredoka"/>
                <a:ea typeface="Fredoka"/>
                <a:cs typeface="Fredoka"/>
                <a:sym typeface="Fredoka"/>
              </a:rPr>
              <a:t>agents</a:t>
            </a:r>
            <a:r>
              <a:rPr b="1" lang="en-US" sz="5000">
                <a:solidFill>
                  <a:srgbClr val="FDE8E9"/>
                </a:solidFill>
                <a:latin typeface="Fredoka"/>
                <a:ea typeface="Fredoka"/>
                <a:cs typeface="Fredoka"/>
                <a:sym typeface="Fredoka"/>
              </a:rPr>
              <a:t> to get human work done</a:t>
            </a:r>
            <a:endParaRPr b="0" i="0" sz="5000" u="none" cap="none" strike="noStrike">
              <a:solidFill>
                <a:schemeClr val="dk1"/>
              </a:solidFill>
              <a:latin typeface="Calibri"/>
              <a:ea typeface="Calibri"/>
              <a:cs typeface="Calibri"/>
              <a:sym typeface="Calibri"/>
            </a:endParaRPr>
          </a:p>
        </p:txBody>
      </p:sp>
      <p:sp>
        <p:nvSpPr>
          <p:cNvPr id="49" name="Google Shape;49;p5"/>
          <p:cNvSpPr/>
          <p:nvPr/>
        </p:nvSpPr>
        <p:spPr>
          <a:xfrm>
            <a:off x="812800" y="3429000"/>
            <a:ext cx="2489200" cy="2349500"/>
          </a:xfrm>
          <a:prstGeom prst="roundRect">
            <a:avLst>
              <a:gd fmla="val 10811" name="adj"/>
            </a:avLst>
          </a:prstGeom>
          <a:solidFill>
            <a:srgbClr val="2B2F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1066800" y="3683000"/>
            <a:ext cx="558800" cy="558800"/>
          </a:xfrm>
          <a:prstGeom prst="roundRect">
            <a:avLst>
              <a:gd fmla="val 50000" name="adj"/>
            </a:avLst>
          </a:prstGeom>
          <a:solidFill>
            <a:srgbClr val="E3B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ning" id="51" name="Google Shape;51;p5"/>
          <p:cNvPicPr preferRelativeResize="0"/>
          <p:nvPr/>
        </p:nvPicPr>
        <p:blipFill rotWithShape="1">
          <a:blip r:embed="rId3">
            <a:alphaModFix/>
          </a:blip>
          <a:srcRect b="0" l="0" r="0" t="0"/>
          <a:stretch/>
        </p:blipFill>
        <p:spPr>
          <a:xfrm>
            <a:off x="1206500" y="3822700"/>
            <a:ext cx="279400" cy="279400"/>
          </a:xfrm>
          <a:prstGeom prst="rect">
            <a:avLst/>
          </a:prstGeom>
          <a:noFill/>
          <a:ln>
            <a:noFill/>
          </a:ln>
        </p:spPr>
      </p:pic>
      <p:sp>
        <p:nvSpPr>
          <p:cNvPr id="52" name="Google Shape;52;p5"/>
          <p:cNvSpPr/>
          <p:nvPr/>
        </p:nvSpPr>
        <p:spPr>
          <a:xfrm>
            <a:off x="1066800" y="4356100"/>
            <a:ext cx="2040636" cy="35202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DE8E9"/>
              </a:buClr>
              <a:buSzPts val="2145"/>
              <a:buFont typeface="Fredoka"/>
              <a:buNone/>
            </a:pPr>
            <a:r>
              <a:rPr b="1" i="0" lang="en-US" sz="2145" u="none" cap="none" strike="noStrike">
                <a:solidFill>
                  <a:srgbClr val="FDE8E9"/>
                </a:solidFill>
                <a:latin typeface="Fredoka"/>
                <a:ea typeface="Fredoka"/>
                <a:cs typeface="Fredoka"/>
                <a:sym typeface="Fredoka"/>
              </a:rPr>
              <a:t>AI first</a:t>
            </a:r>
            <a:endParaRPr b="0" i="0" sz="2145" u="none" cap="none" strike="noStrike">
              <a:solidFill>
                <a:schemeClr val="dk1"/>
              </a:solidFill>
              <a:latin typeface="Calibri"/>
              <a:ea typeface="Calibri"/>
              <a:cs typeface="Calibri"/>
              <a:sym typeface="Calibri"/>
            </a:endParaRPr>
          </a:p>
        </p:txBody>
      </p:sp>
      <p:sp>
        <p:nvSpPr>
          <p:cNvPr id="53" name="Google Shape;53;p5"/>
          <p:cNvSpPr/>
          <p:nvPr/>
        </p:nvSpPr>
        <p:spPr>
          <a:xfrm>
            <a:off x="1066800" y="4797028"/>
            <a:ext cx="2040636" cy="752872"/>
          </a:xfrm>
          <a:prstGeom prst="rect">
            <a:avLst/>
          </a:prstGeom>
          <a:noFill/>
          <a:ln>
            <a:noFill/>
          </a:ln>
        </p:spPr>
        <p:txBody>
          <a:bodyPr anchorCtr="0" anchor="t" bIns="0" lIns="0" spcFirstLastPara="1" rIns="0" wrap="square" tIns="0">
            <a:noAutofit/>
          </a:bodyPr>
          <a:lstStyle/>
          <a:p>
            <a:pPr indent="0" lvl="0" marL="0" marR="0" rtl="0" algn="l">
              <a:lnSpc>
                <a:spcPct val="139956"/>
              </a:lnSpc>
              <a:spcBef>
                <a:spcPts val="0"/>
              </a:spcBef>
              <a:spcAft>
                <a:spcPts val="0"/>
              </a:spcAft>
              <a:buClr>
                <a:srgbClr val="E3BAC6"/>
              </a:buClr>
              <a:buSzPts val="1374"/>
              <a:buFont typeface="Nunito"/>
              <a:buNone/>
            </a:pPr>
            <a:r>
              <a:rPr b="0" i="0" lang="en-US" sz="1374" u="none" cap="none" strike="noStrike">
                <a:solidFill>
                  <a:srgbClr val="E3BAC6"/>
                </a:solidFill>
                <a:latin typeface="Nunito"/>
                <a:ea typeface="Nunito"/>
                <a:cs typeface="Nunito"/>
                <a:sym typeface="Nunito"/>
              </a:rPr>
              <a:t>Agent tries calling and booking itself before hiring.</a:t>
            </a:r>
            <a:endParaRPr b="0" i="0" sz="1374" u="none" cap="none" strike="noStrike">
              <a:solidFill>
                <a:schemeClr val="dk1"/>
              </a:solidFill>
              <a:latin typeface="Calibri"/>
              <a:ea typeface="Calibri"/>
              <a:cs typeface="Calibri"/>
              <a:sym typeface="Calibri"/>
            </a:endParaRPr>
          </a:p>
        </p:txBody>
      </p:sp>
      <p:sp>
        <p:nvSpPr>
          <p:cNvPr id="54" name="Google Shape;54;p5"/>
          <p:cNvSpPr/>
          <p:nvPr/>
        </p:nvSpPr>
        <p:spPr>
          <a:xfrm>
            <a:off x="3505200" y="3429000"/>
            <a:ext cx="2489200" cy="2349500"/>
          </a:xfrm>
          <a:prstGeom prst="roundRect">
            <a:avLst>
              <a:gd fmla="val 10811" name="adj"/>
            </a:avLst>
          </a:prstGeom>
          <a:solidFill>
            <a:srgbClr val="2B2F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3759200" y="3683000"/>
            <a:ext cx="558800" cy="558800"/>
          </a:xfrm>
          <a:prstGeom prst="roundRect">
            <a:avLst>
              <a:gd fmla="val 50000" name="adj"/>
            </a:avLst>
          </a:prstGeom>
          <a:solidFill>
            <a:srgbClr val="E3B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56" name="Google Shape;56;p5"/>
          <p:cNvPicPr preferRelativeResize="0"/>
          <p:nvPr/>
        </p:nvPicPr>
        <p:blipFill rotWithShape="1">
          <a:blip r:embed="rId4">
            <a:alphaModFix/>
          </a:blip>
          <a:srcRect b="0" l="0" r="0" t="0"/>
          <a:stretch/>
        </p:blipFill>
        <p:spPr>
          <a:xfrm>
            <a:off x="3898900" y="3822700"/>
            <a:ext cx="279400" cy="279400"/>
          </a:xfrm>
          <a:prstGeom prst="rect">
            <a:avLst/>
          </a:prstGeom>
          <a:noFill/>
          <a:ln>
            <a:noFill/>
          </a:ln>
        </p:spPr>
      </p:pic>
      <p:sp>
        <p:nvSpPr>
          <p:cNvPr id="57" name="Google Shape;57;p5"/>
          <p:cNvSpPr/>
          <p:nvPr/>
        </p:nvSpPr>
        <p:spPr>
          <a:xfrm>
            <a:off x="3759200" y="4356100"/>
            <a:ext cx="2040636" cy="35202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DE8E9"/>
              </a:buClr>
              <a:buSzPts val="2145"/>
              <a:buFont typeface="Fredoka"/>
              <a:buNone/>
            </a:pPr>
            <a:r>
              <a:rPr b="1" i="0" lang="en-US" sz="2145" u="none" cap="none" strike="noStrike">
                <a:solidFill>
                  <a:srgbClr val="FDE8E9"/>
                </a:solidFill>
                <a:latin typeface="Fredoka"/>
                <a:ea typeface="Fredoka"/>
                <a:cs typeface="Fredoka"/>
                <a:sym typeface="Fredoka"/>
              </a:rPr>
              <a:t>Open router</a:t>
            </a:r>
            <a:endParaRPr b="0" i="0" sz="2145" u="none" cap="none" strike="noStrike">
              <a:solidFill>
                <a:schemeClr val="dk1"/>
              </a:solidFill>
              <a:latin typeface="Calibri"/>
              <a:ea typeface="Calibri"/>
              <a:cs typeface="Calibri"/>
              <a:sym typeface="Calibri"/>
            </a:endParaRPr>
          </a:p>
        </p:txBody>
      </p:sp>
      <p:sp>
        <p:nvSpPr>
          <p:cNvPr id="58" name="Google Shape;58;p5"/>
          <p:cNvSpPr/>
          <p:nvPr/>
        </p:nvSpPr>
        <p:spPr>
          <a:xfrm>
            <a:off x="3759200" y="4797028"/>
            <a:ext cx="2040636" cy="752872"/>
          </a:xfrm>
          <a:prstGeom prst="rect">
            <a:avLst/>
          </a:prstGeom>
          <a:noFill/>
          <a:ln>
            <a:noFill/>
          </a:ln>
        </p:spPr>
        <p:txBody>
          <a:bodyPr anchorCtr="0" anchor="t" bIns="0" lIns="0" spcFirstLastPara="1" rIns="0" wrap="square" tIns="0">
            <a:noAutofit/>
          </a:bodyPr>
          <a:lstStyle/>
          <a:p>
            <a:pPr indent="0" lvl="0" marL="0" marR="0" rtl="0" algn="l">
              <a:lnSpc>
                <a:spcPct val="139956"/>
              </a:lnSpc>
              <a:spcBef>
                <a:spcPts val="0"/>
              </a:spcBef>
              <a:spcAft>
                <a:spcPts val="0"/>
              </a:spcAft>
              <a:buClr>
                <a:srgbClr val="E3BAC6"/>
              </a:buClr>
              <a:buSzPts val="1374"/>
              <a:buFont typeface="Nunito"/>
              <a:buNone/>
            </a:pPr>
            <a:r>
              <a:rPr b="0" i="0" lang="en-US" sz="1374" u="none" cap="none" strike="noStrike">
                <a:solidFill>
                  <a:srgbClr val="E3BAC6"/>
                </a:solidFill>
                <a:latin typeface="Nunito"/>
                <a:ea typeface="Nunito"/>
                <a:cs typeface="Nunito"/>
                <a:sym typeface="Nunito"/>
              </a:rPr>
              <a:t>Scouts Fiverr, TaskRabbit and more, then reaches out.</a:t>
            </a:r>
            <a:endParaRPr b="0" i="0" sz="1374" u="none" cap="none" strike="noStrike">
              <a:solidFill>
                <a:schemeClr val="dk1"/>
              </a:solidFill>
              <a:latin typeface="Calibri"/>
              <a:ea typeface="Calibri"/>
              <a:cs typeface="Calibri"/>
              <a:sym typeface="Calibri"/>
            </a:endParaRPr>
          </a:p>
        </p:txBody>
      </p:sp>
      <p:sp>
        <p:nvSpPr>
          <p:cNvPr id="59" name="Google Shape;59;p5"/>
          <p:cNvSpPr/>
          <p:nvPr/>
        </p:nvSpPr>
        <p:spPr>
          <a:xfrm>
            <a:off x="6197600" y="3429000"/>
            <a:ext cx="2489200" cy="2349500"/>
          </a:xfrm>
          <a:prstGeom prst="roundRect">
            <a:avLst>
              <a:gd fmla="val 10811" name="adj"/>
            </a:avLst>
          </a:prstGeom>
          <a:solidFill>
            <a:srgbClr val="2B2F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6451600" y="3683000"/>
            <a:ext cx="558800" cy="558800"/>
          </a:xfrm>
          <a:prstGeom prst="roundRect">
            <a:avLst>
              <a:gd fmla="val 50000" name="adj"/>
            </a:avLst>
          </a:prstGeom>
          <a:solidFill>
            <a:srgbClr val="E3B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ck" id="61" name="Google Shape;61;p5"/>
          <p:cNvPicPr preferRelativeResize="0"/>
          <p:nvPr/>
        </p:nvPicPr>
        <p:blipFill rotWithShape="1">
          <a:blip r:embed="rId5">
            <a:alphaModFix/>
          </a:blip>
          <a:srcRect b="0" l="0" r="0" t="0"/>
          <a:stretch/>
        </p:blipFill>
        <p:spPr>
          <a:xfrm>
            <a:off x="6591300" y="3822700"/>
            <a:ext cx="279400" cy="279400"/>
          </a:xfrm>
          <a:prstGeom prst="rect">
            <a:avLst/>
          </a:prstGeom>
          <a:noFill/>
          <a:ln>
            <a:noFill/>
          </a:ln>
        </p:spPr>
      </p:pic>
      <p:sp>
        <p:nvSpPr>
          <p:cNvPr id="62" name="Google Shape;62;p5"/>
          <p:cNvSpPr/>
          <p:nvPr/>
        </p:nvSpPr>
        <p:spPr>
          <a:xfrm>
            <a:off x="6451600" y="4356100"/>
            <a:ext cx="2040636" cy="3606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DE8E9"/>
              </a:buClr>
              <a:buSzPts val="2200"/>
              <a:buFont typeface="Fredoka"/>
              <a:buNone/>
            </a:pPr>
            <a:r>
              <a:rPr b="1" i="0" lang="en-US" sz="2200" u="none" cap="none" strike="noStrike">
                <a:solidFill>
                  <a:srgbClr val="FDE8E9"/>
                </a:solidFill>
                <a:latin typeface="Fredoka"/>
                <a:ea typeface="Fredoka"/>
                <a:cs typeface="Fredoka"/>
                <a:sym typeface="Fredoka"/>
              </a:rPr>
              <a:t>Escrow</a:t>
            </a:r>
            <a:endParaRPr b="0" i="0" sz="2200" u="none" cap="none" strike="noStrike">
              <a:solidFill>
                <a:schemeClr val="dk1"/>
              </a:solidFill>
              <a:latin typeface="Calibri"/>
              <a:ea typeface="Calibri"/>
              <a:cs typeface="Calibri"/>
              <a:sym typeface="Calibri"/>
            </a:endParaRPr>
          </a:p>
        </p:txBody>
      </p:sp>
      <p:sp>
        <p:nvSpPr>
          <p:cNvPr id="63" name="Google Shape;63;p5"/>
          <p:cNvSpPr/>
          <p:nvPr/>
        </p:nvSpPr>
        <p:spPr>
          <a:xfrm>
            <a:off x="6451600" y="4805660"/>
            <a:ext cx="2040636"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BAC6"/>
              </a:buClr>
              <a:buSzPts val="1400"/>
              <a:buFont typeface="Nunito"/>
              <a:buNone/>
            </a:pPr>
            <a:r>
              <a:rPr b="0" i="0" lang="en-US" sz="1400" u="none" cap="none" strike="noStrike">
                <a:solidFill>
                  <a:srgbClr val="E3BAC6"/>
                </a:solidFill>
                <a:latin typeface="Nunito"/>
                <a:ea typeface="Nunito"/>
                <a:cs typeface="Nunito"/>
                <a:sym typeface="Nunito"/>
              </a:rPr>
              <a:t>Payment is held until the work is checked.</a:t>
            </a:r>
            <a:endParaRPr b="0" i="0" sz="1400" u="none" cap="none" strike="noStrike">
              <a:solidFill>
                <a:schemeClr val="dk1"/>
              </a:solidFill>
              <a:latin typeface="Calibri"/>
              <a:ea typeface="Calibri"/>
              <a:cs typeface="Calibri"/>
              <a:sym typeface="Calibri"/>
            </a:endParaRPr>
          </a:p>
        </p:txBody>
      </p:sp>
      <p:sp>
        <p:nvSpPr>
          <p:cNvPr id="64" name="Google Shape;64;p5"/>
          <p:cNvSpPr/>
          <p:nvPr/>
        </p:nvSpPr>
        <p:spPr>
          <a:xfrm>
            <a:off x="8890000" y="3429000"/>
            <a:ext cx="2489200" cy="2349500"/>
          </a:xfrm>
          <a:prstGeom prst="roundRect">
            <a:avLst>
              <a:gd fmla="val 10811" name="adj"/>
            </a:avLst>
          </a:prstGeom>
          <a:solidFill>
            <a:srgbClr val="2B2F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9144000" y="3683000"/>
            <a:ext cx="558800" cy="558800"/>
          </a:xfrm>
          <a:prstGeom prst="roundRect">
            <a:avLst>
              <a:gd fmla="val 50000" name="adj"/>
            </a:avLst>
          </a:prstGeom>
          <a:solidFill>
            <a:srgbClr val="E3B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66" name="Google Shape;66;p5"/>
          <p:cNvPicPr preferRelativeResize="0"/>
          <p:nvPr/>
        </p:nvPicPr>
        <p:blipFill rotWithShape="1">
          <a:blip r:embed="rId6">
            <a:alphaModFix/>
          </a:blip>
          <a:srcRect b="0" l="0" r="0" t="0"/>
          <a:stretch/>
        </p:blipFill>
        <p:spPr>
          <a:xfrm>
            <a:off x="9283700" y="3822700"/>
            <a:ext cx="279400" cy="279400"/>
          </a:xfrm>
          <a:prstGeom prst="rect">
            <a:avLst/>
          </a:prstGeom>
          <a:noFill/>
          <a:ln>
            <a:noFill/>
          </a:ln>
        </p:spPr>
      </p:pic>
      <p:sp>
        <p:nvSpPr>
          <p:cNvPr id="67" name="Google Shape;67;p5"/>
          <p:cNvSpPr/>
          <p:nvPr/>
        </p:nvSpPr>
        <p:spPr>
          <a:xfrm>
            <a:off x="9144000" y="4356100"/>
            <a:ext cx="2040636" cy="3606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DE8E9"/>
              </a:buClr>
              <a:buSzPts val="2200"/>
              <a:buFont typeface="Fredoka"/>
              <a:buNone/>
            </a:pPr>
            <a:r>
              <a:rPr b="1" i="0" lang="en-US" sz="2200" u="none" cap="none" strike="noStrike">
                <a:solidFill>
                  <a:srgbClr val="FDE8E9"/>
                </a:solidFill>
                <a:latin typeface="Fredoka"/>
                <a:ea typeface="Fredoka"/>
                <a:cs typeface="Fredoka"/>
                <a:sym typeface="Fredoka"/>
              </a:rPr>
              <a:t>AI verifier</a:t>
            </a:r>
            <a:endParaRPr b="0" i="0" sz="2200" u="none" cap="none" strike="noStrike">
              <a:solidFill>
                <a:schemeClr val="dk1"/>
              </a:solidFill>
              <a:latin typeface="Calibri"/>
              <a:ea typeface="Calibri"/>
              <a:cs typeface="Calibri"/>
              <a:sym typeface="Calibri"/>
            </a:endParaRPr>
          </a:p>
        </p:txBody>
      </p:sp>
      <p:sp>
        <p:nvSpPr>
          <p:cNvPr id="68" name="Google Shape;68;p5"/>
          <p:cNvSpPr/>
          <p:nvPr/>
        </p:nvSpPr>
        <p:spPr>
          <a:xfrm>
            <a:off x="9144000" y="4805660"/>
            <a:ext cx="2040636"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BAC6"/>
              </a:buClr>
              <a:buSzPts val="1400"/>
              <a:buFont typeface="Nunito"/>
              <a:buNone/>
            </a:pPr>
            <a:r>
              <a:rPr b="0" i="0" lang="en-US" sz="1400" u="none" cap="none" strike="noStrike">
                <a:solidFill>
                  <a:srgbClr val="E3BAC6"/>
                </a:solidFill>
                <a:latin typeface="Nunito"/>
                <a:ea typeface="Nunito"/>
                <a:cs typeface="Nunito"/>
                <a:sym typeface="Nunito"/>
              </a:rPr>
              <a:t>Judges the result against the rubric, then pays.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E8E9"/>
        </a:solidFill>
      </p:bgPr>
    </p:bg>
    <p:spTree>
      <p:nvGrpSpPr>
        <p:cNvPr id="73" name="Shape 73"/>
        <p:cNvGrpSpPr/>
        <p:nvPr/>
      </p:nvGrpSpPr>
      <p:grpSpPr>
        <a:xfrm>
          <a:off x="0" y="0"/>
          <a:ext cx="0" cy="0"/>
          <a:chOff x="0" y="0"/>
          <a:chExt cx="0" cy="0"/>
        </a:xfrm>
      </p:grpSpPr>
      <p:sp>
        <p:nvSpPr>
          <p:cNvPr id="74" name="Google Shape;74;p6"/>
          <p:cNvSpPr/>
          <p:nvPr/>
        </p:nvSpPr>
        <p:spPr>
          <a:xfrm>
            <a:off x="812800" y="812800"/>
            <a:ext cx="2253436"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300"/>
              <a:buFont typeface="Nunito"/>
              <a:buNone/>
            </a:pPr>
            <a:r>
              <a:rPr b="1" i="0" lang="en-US" sz="1300" u="none" cap="none" strike="noStrike">
                <a:solidFill>
                  <a:srgbClr val="596475"/>
                </a:solidFill>
                <a:latin typeface="Nunito"/>
                <a:ea typeface="Nunito"/>
                <a:cs typeface="Nunito"/>
                <a:sym typeface="Nunito"/>
              </a:rPr>
              <a:t>HOW WE FIND PEOPLE</a:t>
            </a:r>
            <a:endParaRPr b="0" i="0" sz="1300" u="none" cap="none" strike="noStrike">
              <a:solidFill>
                <a:schemeClr val="dk1"/>
              </a:solidFill>
              <a:latin typeface="Calibri"/>
              <a:ea typeface="Calibri"/>
              <a:cs typeface="Calibri"/>
              <a:sym typeface="Calibri"/>
            </a:endParaRPr>
          </a:p>
        </p:txBody>
      </p:sp>
      <p:sp>
        <p:nvSpPr>
          <p:cNvPr id="75" name="Google Shape;75;p6"/>
          <p:cNvSpPr/>
          <p:nvPr/>
        </p:nvSpPr>
        <p:spPr>
          <a:xfrm>
            <a:off x="812800" y="1221730"/>
            <a:ext cx="11379200"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2232"/>
              </a:buClr>
              <a:buSzPts val="4000"/>
              <a:buFont typeface="Fredoka"/>
              <a:buNone/>
            </a:pPr>
            <a:r>
              <a:rPr b="1" i="0" lang="en-US" sz="4000" u="none" cap="none" strike="noStrike">
                <a:solidFill>
                  <a:srgbClr val="1F2232"/>
                </a:solidFill>
                <a:latin typeface="Fredoka"/>
                <a:ea typeface="Fredoka"/>
                <a:cs typeface="Fredoka"/>
                <a:sym typeface="Fredoka"/>
              </a:rPr>
              <a:t>We work the marketplaces that already exist</a:t>
            </a:r>
            <a:endParaRPr b="0" i="0" sz="4000" u="none" cap="none" strike="noStrike">
              <a:solidFill>
                <a:schemeClr val="dk1"/>
              </a:solidFill>
              <a:latin typeface="Calibri"/>
              <a:ea typeface="Calibri"/>
              <a:cs typeface="Calibri"/>
              <a:sym typeface="Calibri"/>
            </a:endParaRPr>
          </a:p>
        </p:txBody>
      </p:sp>
      <p:sp>
        <p:nvSpPr>
          <p:cNvPr id="76" name="Google Shape;76;p6"/>
          <p:cNvSpPr/>
          <p:nvPr/>
        </p:nvSpPr>
        <p:spPr>
          <a:xfrm>
            <a:off x="819150" y="2673350"/>
            <a:ext cx="2654300" cy="469900"/>
          </a:xfrm>
          <a:prstGeom prst="roundRect">
            <a:avLst>
              <a:gd fmla="val 50000" name="adj"/>
            </a:avLst>
          </a:prstGeom>
          <a:solidFill>
            <a:srgbClr val="FFFCFC"/>
          </a:solidFill>
          <a:ln cap="flat" cmpd="sng" w="12700">
            <a:solidFill>
              <a:srgbClr val="F3D3D8"/>
            </a:solidFill>
            <a:prstDash val="solid"/>
            <a:round/>
            <a:headEnd len="sm" w="sm" type="none"/>
            <a:tailEnd len="sm" w="sm" type="none"/>
          </a:ln>
        </p:spPr>
        <p:txBody>
          <a:bodyPr anchorCtr="0" anchor="ctr" bIns="0" lIns="140725" spcFirstLastPara="1" rIns="140725" wrap="square" tIns="0">
            <a:noAutofit/>
          </a:bodyPr>
          <a:lstStyle/>
          <a:p>
            <a:pPr indent="0" lvl="0" marL="0" marR="0" rtl="0" algn="l">
              <a:lnSpc>
                <a:spcPct val="140000"/>
              </a:lnSpc>
              <a:spcBef>
                <a:spcPts val="0"/>
              </a:spcBef>
              <a:spcAft>
                <a:spcPts val="0"/>
              </a:spcAft>
              <a:buClr>
                <a:srgbClr val="1F2232"/>
              </a:buClr>
              <a:buSzPts val="1800"/>
              <a:buFont typeface="Fredoka"/>
              <a:buNone/>
            </a:pPr>
            <a:r>
              <a:rPr b="1" i="0" lang="en-US" sz="1800" u="none" cap="none" strike="noStrike">
                <a:solidFill>
                  <a:srgbClr val="1F2232"/>
                </a:solidFill>
                <a:latin typeface="Fredoka"/>
                <a:ea typeface="Fredoka"/>
                <a:cs typeface="Fredoka"/>
                <a:sym typeface="Fredoka"/>
              </a:rPr>
              <a:t>Fiverr</a:t>
            </a:r>
            <a:endParaRPr b="0" i="0" sz="1800" u="none" cap="none" strike="noStrike">
              <a:solidFill>
                <a:schemeClr val="dk1"/>
              </a:solidFill>
              <a:latin typeface="Calibri"/>
              <a:ea typeface="Calibri"/>
              <a:cs typeface="Calibri"/>
              <a:sym typeface="Calibri"/>
            </a:endParaRPr>
          </a:p>
        </p:txBody>
      </p:sp>
      <p:sp>
        <p:nvSpPr>
          <p:cNvPr id="77" name="Google Shape;77;p6"/>
          <p:cNvSpPr/>
          <p:nvPr/>
        </p:nvSpPr>
        <p:spPr>
          <a:xfrm>
            <a:off x="819150" y="3257550"/>
            <a:ext cx="2654300" cy="469900"/>
          </a:xfrm>
          <a:prstGeom prst="roundRect">
            <a:avLst>
              <a:gd fmla="val 50000" name="adj"/>
            </a:avLst>
          </a:prstGeom>
          <a:solidFill>
            <a:srgbClr val="FFFCFC"/>
          </a:solidFill>
          <a:ln cap="flat" cmpd="sng" w="12700">
            <a:solidFill>
              <a:srgbClr val="F3D3D8"/>
            </a:solidFill>
            <a:prstDash val="solid"/>
            <a:round/>
            <a:headEnd len="sm" w="sm" type="none"/>
            <a:tailEnd len="sm" w="sm" type="none"/>
          </a:ln>
        </p:spPr>
        <p:txBody>
          <a:bodyPr anchorCtr="0" anchor="ctr" bIns="0" lIns="140725" spcFirstLastPara="1" rIns="140725" wrap="square" tIns="0">
            <a:noAutofit/>
          </a:bodyPr>
          <a:lstStyle/>
          <a:p>
            <a:pPr indent="0" lvl="0" marL="0" marR="0" rtl="0" algn="l">
              <a:lnSpc>
                <a:spcPct val="140000"/>
              </a:lnSpc>
              <a:spcBef>
                <a:spcPts val="0"/>
              </a:spcBef>
              <a:spcAft>
                <a:spcPts val="0"/>
              </a:spcAft>
              <a:buClr>
                <a:srgbClr val="1F2232"/>
              </a:buClr>
              <a:buSzPts val="1800"/>
              <a:buFont typeface="Fredoka"/>
              <a:buNone/>
            </a:pPr>
            <a:r>
              <a:rPr b="1" i="0" lang="en-US" sz="1800" u="none" cap="none" strike="noStrike">
                <a:solidFill>
                  <a:srgbClr val="1F2232"/>
                </a:solidFill>
                <a:latin typeface="Fredoka"/>
                <a:ea typeface="Fredoka"/>
                <a:cs typeface="Fredoka"/>
                <a:sym typeface="Fredoka"/>
              </a:rPr>
              <a:t>TaskRabbit</a:t>
            </a:r>
            <a:endParaRPr b="0" i="0" sz="1800" u="none" cap="none" strike="noStrike">
              <a:solidFill>
                <a:schemeClr val="dk1"/>
              </a:solidFill>
              <a:latin typeface="Calibri"/>
              <a:ea typeface="Calibri"/>
              <a:cs typeface="Calibri"/>
              <a:sym typeface="Calibri"/>
            </a:endParaRPr>
          </a:p>
        </p:txBody>
      </p:sp>
      <p:sp>
        <p:nvSpPr>
          <p:cNvPr id="78" name="Google Shape;78;p6"/>
          <p:cNvSpPr/>
          <p:nvPr/>
        </p:nvSpPr>
        <p:spPr>
          <a:xfrm>
            <a:off x="819150" y="3841750"/>
            <a:ext cx="2654300" cy="469900"/>
          </a:xfrm>
          <a:prstGeom prst="roundRect">
            <a:avLst>
              <a:gd fmla="val 50000" name="adj"/>
            </a:avLst>
          </a:prstGeom>
          <a:solidFill>
            <a:srgbClr val="FFFCFC"/>
          </a:solidFill>
          <a:ln cap="flat" cmpd="sng" w="12700">
            <a:solidFill>
              <a:srgbClr val="F3D3D8"/>
            </a:solidFill>
            <a:prstDash val="solid"/>
            <a:round/>
            <a:headEnd len="sm" w="sm" type="none"/>
            <a:tailEnd len="sm" w="sm" type="none"/>
          </a:ln>
        </p:spPr>
        <p:txBody>
          <a:bodyPr anchorCtr="0" anchor="ctr" bIns="0" lIns="140725" spcFirstLastPara="1" rIns="140725" wrap="square" tIns="0">
            <a:noAutofit/>
          </a:bodyPr>
          <a:lstStyle/>
          <a:p>
            <a:pPr indent="0" lvl="0" marL="0" marR="0" rtl="0" algn="l">
              <a:lnSpc>
                <a:spcPct val="140000"/>
              </a:lnSpc>
              <a:spcBef>
                <a:spcPts val="0"/>
              </a:spcBef>
              <a:spcAft>
                <a:spcPts val="0"/>
              </a:spcAft>
              <a:buClr>
                <a:srgbClr val="1F2232"/>
              </a:buClr>
              <a:buSzPts val="1800"/>
              <a:buFont typeface="Fredoka"/>
              <a:buNone/>
            </a:pPr>
            <a:r>
              <a:rPr b="1" i="0" lang="en-US" sz="1800" u="none" cap="none" strike="noStrike">
                <a:solidFill>
                  <a:srgbClr val="1F2232"/>
                </a:solidFill>
                <a:latin typeface="Fredoka"/>
                <a:ea typeface="Fredoka"/>
                <a:cs typeface="Fredoka"/>
                <a:sym typeface="Fredoka"/>
              </a:rPr>
              <a:t>Prolific</a:t>
            </a:r>
            <a:endParaRPr b="0" i="0" sz="1800" u="none" cap="none" strike="noStrike">
              <a:solidFill>
                <a:schemeClr val="dk1"/>
              </a:solidFill>
              <a:latin typeface="Calibri"/>
              <a:ea typeface="Calibri"/>
              <a:cs typeface="Calibri"/>
              <a:sym typeface="Calibri"/>
            </a:endParaRPr>
          </a:p>
        </p:txBody>
      </p:sp>
      <p:sp>
        <p:nvSpPr>
          <p:cNvPr id="79" name="Google Shape;79;p6"/>
          <p:cNvSpPr/>
          <p:nvPr/>
        </p:nvSpPr>
        <p:spPr>
          <a:xfrm>
            <a:off x="819150" y="4425950"/>
            <a:ext cx="2654300" cy="469900"/>
          </a:xfrm>
          <a:prstGeom prst="roundRect">
            <a:avLst>
              <a:gd fmla="val 50000" name="adj"/>
            </a:avLst>
          </a:prstGeom>
          <a:solidFill>
            <a:srgbClr val="FFFCFC"/>
          </a:solidFill>
          <a:ln cap="flat" cmpd="sng" w="12700">
            <a:solidFill>
              <a:srgbClr val="F3D3D8"/>
            </a:solidFill>
            <a:prstDash val="solid"/>
            <a:round/>
            <a:headEnd len="sm" w="sm" type="none"/>
            <a:tailEnd len="sm" w="sm" type="none"/>
          </a:ln>
        </p:spPr>
        <p:txBody>
          <a:bodyPr anchorCtr="0" anchor="ctr" bIns="0" lIns="140725" spcFirstLastPara="1" rIns="140725" wrap="square" tIns="0">
            <a:noAutofit/>
          </a:bodyPr>
          <a:lstStyle/>
          <a:p>
            <a:pPr indent="0" lvl="0" marL="0" marR="0" rtl="0" algn="l">
              <a:lnSpc>
                <a:spcPct val="140000"/>
              </a:lnSpc>
              <a:spcBef>
                <a:spcPts val="0"/>
              </a:spcBef>
              <a:spcAft>
                <a:spcPts val="0"/>
              </a:spcAft>
              <a:buClr>
                <a:srgbClr val="1F2232"/>
              </a:buClr>
              <a:buSzPts val="1800"/>
              <a:buFont typeface="Fredoka"/>
              <a:buNone/>
            </a:pPr>
            <a:r>
              <a:rPr b="1" i="0" lang="en-US" sz="1800" u="none" cap="none" strike="noStrike">
                <a:solidFill>
                  <a:srgbClr val="1F2232"/>
                </a:solidFill>
                <a:latin typeface="Fredoka"/>
                <a:ea typeface="Fredoka"/>
                <a:cs typeface="Fredoka"/>
                <a:sym typeface="Fredoka"/>
              </a:rPr>
              <a:t>Bounty boards</a:t>
            </a:r>
            <a:endParaRPr b="0" i="0" sz="1800" u="none" cap="none" strike="noStrike">
              <a:solidFill>
                <a:schemeClr val="dk1"/>
              </a:solidFill>
              <a:latin typeface="Calibri"/>
              <a:ea typeface="Calibri"/>
              <a:cs typeface="Calibri"/>
              <a:sym typeface="Calibri"/>
            </a:endParaRPr>
          </a:p>
        </p:txBody>
      </p:sp>
      <p:sp>
        <p:nvSpPr>
          <p:cNvPr id="80" name="Google Shape;80;p6"/>
          <p:cNvSpPr/>
          <p:nvPr/>
        </p:nvSpPr>
        <p:spPr>
          <a:xfrm>
            <a:off x="812800" y="5003800"/>
            <a:ext cx="2667000" cy="482600"/>
          </a:xfrm>
          <a:prstGeom prst="roundRect">
            <a:avLst>
              <a:gd fmla="val 50000" name="adj"/>
            </a:avLst>
          </a:prstGeom>
          <a:solidFill>
            <a:srgbClr val="E3BAC6"/>
          </a:solidFill>
          <a:ln>
            <a:noFill/>
          </a:ln>
        </p:spPr>
        <p:txBody>
          <a:bodyPr anchorCtr="0" anchor="ctr" bIns="0" lIns="132525" spcFirstLastPara="1" rIns="132525" wrap="square" tIns="0">
            <a:noAutofit/>
          </a:bodyPr>
          <a:lstStyle/>
          <a:p>
            <a:pPr indent="0" lvl="0" marL="0" marR="0" rtl="0" algn="l">
              <a:lnSpc>
                <a:spcPct val="140000"/>
              </a:lnSpc>
              <a:spcBef>
                <a:spcPts val="0"/>
              </a:spcBef>
              <a:spcAft>
                <a:spcPts val="0"/>
              </a:spcAft>
              <a:buClr>
                <a:srgbClr val="1F2232"/>
              </a:buClr>
              <a:buSzPts val="1800"/>
              <a:buFont typeface="Fredoka"/>
              <a:buNone/>
            </a:pPr>
            <a:r>
              <a:rPr b="1" i="0" lang="en-US" sz="1800" u="none" cap="none" strike="noStrike">
                <a:solidFill>
                  <a:srgbClr val="1F2232"/>
                </a:solidFill>
                <a:latin typeface="Fredoka"/>
                <a:ea typeface="Fredoka"/>
                <a:cs typeface="Fredoka"/>
                <a:sym typeface="Fredoka"/>
              </a:rPr>
              <a:t>And more</a:t>
            </a:r>
            <a:endParaRPr b="0" i="0" sz="1800" u="none" cap="none" strike="noStrike">
              <a:solidFill>
                <a:schemeClr val="dk1"/>
              </a:solidFill>
              <a:latin typeface="Calibri"/>
              <a:ea typeface="Calibri"/>
              <a:cs typeface="Calibri"/>
              <a:sym typeface="Calibri"/>
            </a:endParaRPr>
          </a:p>
        </p:txBody>
      </p:sp>
      <p:pic>
        <p:nvPicPr>
          <p:cNvPr descr="connector" id="81" name="Google Shape;81;p6"/>
          <p:cNvPicPr preferRelativeResize="0"/>
          <p:nvPr/>
        </p:nvPicPr>
        <p:blipFill rotWithShape="1">
          <a:blip r:embed="rId3">
            <a:alphaModFix/>
          </a:blip>
          <a:srcRect b="0" l="0" r="0" t="0"/>
          <a:stretch/>
        </p:blipFill>
        <p:spPr>
          <a:xfrm>
            <a:off x="3568700" y="4013200"/>
            <a:ext cx="1574800" cy="127000"/>
          </a:xfrm>
          <a:prstGeom prst="rect">
            <a:avLst/>
          </a:prstGeom>
          <a:noFill/>
          <a:ln>
            <a:noFill/>
          </a:ln>
        </p:spPr>
      </p:pic>
      <p:sp>
        <p:nvSpPr>
          <p:cNvPr id="82" name="Google Shape;82;p6"/>
          <p:cNvSpPr/>
          <p:nvPr/>
        </p:nvSpPr>
        <p:spPr>
          <a:xfrm>
            <a:off x="5156200" y="3124200"/>
            <a:ext cx="1879600" cy="1879600"/>
          </a:xfrm>
          <a:prstGeom prst="roundRect">
            <a:avLst>
              <a:gd fmla="val 50000" name="adj"/>
            </a:avLst>
          </a:prstGeom>
          <a:solidFill>
            <a:srgbClr val="FFFCFC"/>
          </a:solidFill>
          <a:ln cap="flat" cmpd="sng" w="25400">
            <a:solidFill>
              <a:srgbClr val="E3BA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4899541" y="5143500"/>
            <a:ext cx="2392918" cy="36066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232"/>
              </a:buClr>
              <a:buSzPts val="2200"/>
              <a:buFont typeface="Fredoka"/>
              <a:buNone/>
            </a:pPr>
            <a:r>
              <a:rPr b="1" i="0" lang="en-US" sz="2200" u="none" cap="none" strike="noStrike">
                <a:solidFill>
                  <a:srgbClr val="1F2232"/>
                </a:solidFill>
                <a:latin typeface="Fredoka"/>
                <a:ea typeface="Fredoka"/>
                <a:cs typeface="Fredoka"/>
                <a:sym typeface="Fredoka"/>
              </a:rPr>
              <a:t>The HaaS agent</a:t>
            </a:r>
            <a:endParaRPr b="0" i="0" sz="2200" u="none" cap="none" strike="noStrike">
              <a:solidFill>
                <a:schemeClr val="dk1"/>
              </a:solidFill>
              <a:latin typeface="Calibri"/>
              <a:ea typeface="Calibri"/>
              <a:cs typeface="Calibri"/>
              <a:sym typeface="Calibri"/>
            </a:endParaRPr>
          </a:p>
        </p:txBody>
      </p:sp>
      <p:sp>
        <p:nvSpPr>
          <p:cNvPr id="84" name="Google Shape;84;p6"/>
          <p:cNvSpPr/>
          <p:nvPr/>
        </p:nvSpPr>
        <p:spPr>
          <a:xfrm>
            <a:off x="4306674" y="5516860"/>
            <a:ext cx="3578602" cy="2742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596475"/>
              </a:buClr>
              <a:buSzPts val="1400"/>
              <a:buFont typeface="Nunito"/>
              <a:buNone/>
            </a:pPr>
            <a:r>
              <a:rPr b="0" i="0" lang="en-US" sz="1400" u="none" cap="none" strike="noStrike">
                <a:solidFill>
                  <a:srgbClr val="596475"/>
                </a:solidFill>
                <a:latin typeface="Nunito"/>
                <a:ea typeface="Nunito"/>
                <a:cs typeface="Nunito"/>
                <a:sym typeface="Nunito"/>
              </a:rPr>
              <a:t>Reads listings, reaches out, compares</a:t>
            </a:r>
            <a:endParaRPr b="0" i="0" sz="1400" u="none" cap="none" strike="noStrike">
              <a:solidFill>
                <a:schemeClr val="dk1"/>
              </a:solidFill>
              <a:latin typeface="Calibri"/>
              <a:ea typeface="Calibri"/>
              <a:cs typeface="Calibri"/>
              <a:sym typeface="Calibri"/>
            </a:endParaRPr>
          </a:p>
        </p:txBody>
      </p:sp>
      <p:pic>
        <p:nvPicPr>
          <p:cNvPr descr="connector" id="85" name="Google Shape;85;p6"/>
          <p:cNvPicPr preferRelativeResize="0"/>
          <p:nvPr/>
        </p:nvPicPr>
        <p:blipFill rotWithShape="1">
          <a:blip r:embed="rId4">
            <a:alphaModFix/>
          </a:blip>
          <a:srcRect b="0" l="0" r="0" t="0"/>
          <a:stretch/>
        </p:blipFill>
        <p:spPr>
          <a:xfrm>
            <a:off x="7112000" y="4013200"/>
            <a:ext cx="965200" cy="127000"/>
          </a:xfrm>
          <a:prstGeom prst="rect">
            <a:avLst/>
          </a:prstGeom>
          <a:noFill/>
          <a:ln>
            <a:noFill/>
          </a:ln>
        </p:spPr>
      </p:pic>
      <p:sp>
        <p:nvSpPr>
          <p:cNvPr id="86" name="Google Shape;86;p6"/>
          <p:cNvSpPr/>
          <p:nvPr/>
        </p:nvSpPr>
        <p:spPr>
          <a:xfrm>
            <a:off x="8077200" y="3111500"/>
            <a:ext cx="3302000" cy="1905000"/>
          </a:xfrm>
          <a:prstGeom prst="roundRect">
            <a:avLst>
              <a:gd fmla="val 16000" name="adj"/>
            </a:avLst>
          </a:prstGeom>
          <a:solidFill>
            <a:srgbClr val="1F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8356600" y="3390900"/>
            <a:ext cx="1412677" cy="271165"/>
          </a:xfrm>
          <a:prstGeom prst="roundRect">
            <a:avLst>
              <a:gd fmla="val 50000" name="adj"/>
            </a:avLst>
          </a:prstGeom>
          <a:solidFill>
            <a:srgbClr val="D7F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8496300" y="3416300"/>
            <a:ext cx="1184077" cy="245765"/>
          </a:xfrm>
          <a:prstGeom prst="rect">
            <a:avLst/>
          </a:prstGeom>
          <a:noFill/>
          <a:ln>
            <a:noFill/>
          </a:ln>
        </p:spPr>
        <p:txBody>
          <a:bodyPr anchorCtr="0" anchor="t" bIns="0" lIns="0" spcFirstLastPara="1" rIns="0" wrap="square" tIns="0">
            <a:noAutofit/>
          </a:bodyPr>
          <a:lstStyle/>
          <a:p>
            <a:pPr indent="0" lvl="0" marL="0" marR="0" rtl="0" algn="l">
              <a:lnSpc>
                <a:spcPct val="139905"/>
              </a:lnSpc>
              <a:spcBef>
                <a:spcPts val="0"/>
              </a:spcBef>
              <a:spcAft>
                <a:spcPts val="0"/>
              </a:spcAft>
              <a:buClr>
                <a:srgbClr val="0B4A39"/>
              </a:buClr>
              <a:buSzPts val="1268"/>
              <a:buFont typeface="Nunito"/>
              <a:buNone/>
            </a:pPr>
            <a:r>
              <a:rPr b="1" i="0" lang="en-US" sz="1268" u="none" cap="none" strike="noStrike">
                <a:solidFill>
                  <a:srgbClr val="0B4A39"/>
                </a:solidFill>
                <a:latin typeface="Nunito"/>
                <a:ea typeface="Nunito"/>
                <a:cs typeface="Nunito"/>
                <a:sym typeface="Nunito"/>
              </a:rPr>
              <a:t>Booked for you</a:t>
            </a:r>
            <a:endParaRPr b="0" i="0" sz="1268" u="none" cap="none" strike="noStrike">
              <a:solidFill>
                <a:schemeClr val="dk1"/>
              </a:solidFill>
              <a:latin typeface="Calibri"/>
              <a:ea typeface="Calibri"/>
              <a:cs typeface="Calibri"/>
              <a:sym typeface="Calibri"/>
            </a:endParaRPr>
          </a:p>
        </p:txBody>
      </p:sp>
      <p:sp>
        <p:nvSpPr>
          <p:cNvPr id="89" name="Google Shape;89;p6"/>
          <p:cNvSpPr/>
          <p:nvPr/>
        </p:nvSpPr>
        <p:spPr>
          <a:xfrm>
            <a:off x="8356600" y="3750965"/>
            <a:ext cx="2825496" cy="432197"/>
          </a:xfrm>
          <a:prstGeom prst="rect">
            <a:avLst/>
          </a:prstGeom>
          <a:noFill/>
          <a:ln>
            <a:noFill/>
          </a:ln>
        </p:spPr>
        <p:txBody>
          <a:bodyPr anchorCtr="0" anchor="t" bIns="0" lIns="0" spcFirstLastPara="1" rIns="0" wrap="square" tIns="0">
            <a:noAutofit/>
          </a:bodyPr>
          <a:lstStyle/>
          <a:p>
            <a:pPr indent="0" lvl="0" marL="0" marR="0" rtl="0" algn="l">
              <a:lnSpc>
                <a:spcPct val="119992"/>
              </a:lnSpc>
              <a:spcBef>
                <a:spcPts val="0"/>
              </a:spcBef>
              <a:spcAft>
                <a:spcPts val="0"/>
              </a:spcAft>
              <a:buClr>
                <a:srgbClr val="FDE8E9"/>
              </a:buClr>
              <a:buSzPts val="2686"/>
              <a:buFont typeface="Fredoka"/>
              <a:buNone/>
            </a:pPr>
            <a:r>
              <a:rPr b="1" i="0" lang="en-US" sz="2686" u="none" cap="none" strike="noStrike">
                <a:solidFill>
                  <a:srgbClr val="FDE8E9"/>
                </a:solidFill>
                <a:latin typeface="Fredoka"/>
                <a:ea typeface="Fredoka"/>
                <a:cs typeface="Fredoka"/>
                <a:sym typeface="Fredoka"/>
              </a:rPr>
              <a:t>Best match</a:t>
            </a:r>
            <a:endParaRPr b="0" i="0" sz="2686" u="none" cap="none" strike="noStrike">
              <a:solidFill>
                <a:schemeClr val="dk1"/>
              </a:solidFill>
              <a:latin typeface="Calibri"/>
              <a:ea typeface="Calibri"/>
              <a:cs typeface="Calibri"/>
              <a:sym typeface="Calibri"/>
            </a:endParaRPr>
          </a:p>
        </p:txBody>
      </p:sp>
      <p:sp>
        <p:nvSpPr>
          <p:cNvPr id="90" name="Google Shape;90;p6"/>
          <p:cNvSpPr/>
          <p:nvPr/>
        </p:nvSpPr>
        <p:spPr>
          <a:xfrm>
            <a:off x="8356600" y="4246662"/>
            <a:ext cx="2825496" cy="515838"/>
          </a:xfrm>
          <a:prstGeom prst="rect">
            <a:avLst/>
          </a:prstGeom>
          <a:noFill/>
          <a:ln>
            <a:noFill/>
          </a:ln>
        </p:spPr>
        <p:txBody>
          <a:bodyPr anchorCtr="0" anchor="t" bIns="0" lIns="0" spcFirstLastPara="1" rIns="0" wrap="square" tIns="0">
            <a:noAutofit/>
          </a:bodyPr>
          <a:lstStyle/>
          <a:p>
            <a:pPr indent="0" lvl="0" marL="0" marR="0" rtl="0" algn="l">
              <a:lnSpc>
                <a:spcPct val="135006"/>
              </a:lnSpc>
              <a:spcBef>
                <a:spcPts val="0"/>
              </a:spcBef>
              <a:spcAft>
                <a:spcPts val="0"/>
              </a:spcAft>
              <a:buClr>
                <a:srgbClr val="E3BAC6"/>
              </a:buClr>
              <a:buSzPts val="1434"/>
              <a:buFont typeface="Nunito"/>
              <a:buNone/>
            </a:pPr>
            <a:r>
              <a:rPr b="0" i="0" lang="en-US" sz="1434" u="none" cap="none" strike="noStrike">
                <a:solidFill>
                  <a:srgbClr val="E3BAC6"/>
                </a:solidFill>
                <a:latin typeface="Nunito"/>
                <a:ea typeface="Nunito"/>
                <a:cs typeface="Nunito"/>
                <a:sym typeface="Nunito"/>
              </a:rPr>
              <a:t>Ranked on fit, price, hours and track record</a:t>
            </a:r>
            <a:endParaRPr b="0" i="0" sz="1434" u="none" cap="none" strike="noStrike">
              <a:solidFill>
                <a:schemeClr val="dk1"/>
              </a:solidFill>
              <a:latin typeface="Calibri"/>
              <a:ea typeface="Calibri"/>
              <a:cs typeface="Calibri"/>
              <a:sym typeface="Calibri"/>
            </a:endParaRPr>
          </a:p>
        </p:txBody>
      </p:sp>
      <p:pic>
        <p:nvPicPr>
          <p:cNvPr id="91" name="Google Shape;91;p6" title="haas-hand-smile.png"/>
          <p:cNvPicPr preferRelativeResize="0"/>
          <p:nvPr/>
        </p:nvPicPr>
        <p:blipFill>
          <a:blip r:embed="rId5">
            <a:alphaModFix/>
          </a:blip>
          <a:stretch>
            <a:fillRect/>
          </a:stretch>
        </p:blipFill>
        <p:spPr>
          <a:xfrm>
            <a:off x="5285100" y="3221350"/>
            <a:ext cx="1685299" cy="16852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E8E9"/>
        </a:solidFill>
      </p:bgPr>
    </p:bg>
    <p:spTree>
      <p:nvGrpSpPr>
        <p:cNvPr id="96" name="Shape 96"/>
        <p:cNvGrpSpPr/>
        <p:nvPr/>
      </p:nvGrpSpPr>
      <p:grpSpPr>
        <a:xfrm>
          <a:off x="0" y="0"/>
          <a:ext cx="0" cy="0"/>
          <a:chOff x="0" y="0"/>
          <a:chExt cx="0" cy="0"/>
        </a:xfrm>
      </p:grpSpPr>
      <p:sp>
        <p:nvSpPr>
          <p:cNvPr id="97" name="Google Shape;97;p7"/>
          <p:cNvSpPr/>
          <p:nvPr/>
        </p:nvSpPr>
        <p:spPr>
          <a:xfrm>
            <a:off x="812800" y="812800"/>
            <a:ext cx="1572518"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300"/>
              <a:buFont typeface="Nunito"/>
              <a:buNone/>
            </a:pPr>
            <a:r>
              <a:rPr b="1" i="0" lang="en-US" sz="1300" u="none" cap="none" strike="noStrike">
                <a:solidFill>
                  <a:srgbClr val="596475"/>
                </a:solidFill>
                <a:latin typeface="Nunito"/>
                <a:ea typeface="Nunito"/>
                <a:cs typeface="Nunito"/>
                <a:sym typeface="Nunito"/>
              </a:rPr>
              <a:t>HOW IT WORKS</a:t>
            </a:r>
            <a:endParaRPr b="0" i="0" sz="1300" u="none" cap="none" strike="noStrike">
              <a:solidFill>
                <a:schemeClr val="dk1"/>
              </a:solidFill>
              <a:latin typeface="Calibri"/>
              <a:ea typeface="Calibri"/>
              <a:cs typeface="Calibri"/>
              <a:sym typeface="Calibri"/>
            </a:endParaRPr>
          </a:p>
        </p:txBody>
      </p:sp>
      <p:sp>
        <p:nvSpPr>
          <p:cNvPr id="98" name="Google Shape;98;p7"/>
          <p:cNvSpPr/>
          <p:nvPr/>
        </p:nvSpPr>
        <p:spPr>
          <a:xfrm>
            <a:off x="812800" y="1221730"/>
            <a:ext cx="10883392" cy="6400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2232"/>
              </a:buClr>
              <a:buSzPts val="4400"/>
              <a:buFont typeface="Fredoka"/>
              <a:buNone/>
            </a:pPr>
            <a:r>
              <a:rPr b="1" i="0" lang="en-US" sz="4400" u="none" cap="none" strike="noStrike">
                <a:solidFill>
                  <a:srgbClr val="1F2232"/>
                </a:solidFill>
                <a:latin typeface="Fredoka"/>
                <a:ea typeface="Fredoka"/>
                <a:cs typeface="Fredoka"/>
                <a:sym typeface="Fredoka"/>
              </a:rPr>
              <a:t>How a task moves</a:t>
            </a:r>
            <a:endParaRPr b="0" i="0" sz="4400" u="none" cap="none" strike="noStrike">
              <a:solidFill>
                <a:schemeClr val="dk1"/>
              </a:solidFill>
              <a:latin typeface="Calibri"/>
              <a:ea typeface="Calibri"/>
              <a:cs typeface="Calibri"/>
              <a:sym typeface="Calibri"/>
            </a:endParaRPr>
          </a:p>
        </p:txBody>
      </p:sp>
      <p:pic>
        <p:nvPicPr>
          <p:cNvPr descr="line" id="99" name="Google Shape;99;p7"/>
          <p:cNvPicPr preferRelativeResize="0"/>
          <p:nvPr/>
        </p:nvPicPr>
        <p:blipFill rotWithShape="1">
          <a:blip r:embed="rId3">
            <a:alphaModFix/>
          </a:blip>
          <a:srcRect b="0" l="0" r="0" t="0"/>
          <a:stretch/>
        </p:blipFill>
        <p:spPr>
          <a:xfrm>
            <a:off x="1778000" y="2463800"/>
            <a:ext cx="8636000" cy="76200"/>
          </a:xfrm>
          <a:prstGeom prst="rect">
            <a:avLst/>
          </a:prstGeom>
          <a:noFill/>
          <a:ln>
            <a:noFill/>
          </a:ln>
        </p:spPr>
      </p:pic>
      <p:sp>
        <p:nvSpPr>
          <p:cNvPr id="100" name="Google Shape;100;p7"/>
          <p:cNvSpPr/>
          <p:nvPr/>
        </p:nvSpPr>
        <p:spPr>
          <a:xfrm>
            <a:off x="1473200" y="2159000"/>
            <a:ext cx="609600" cy="60960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1</a:t>
            </a:r>
            <a:endParaRPr b="0" i="0" sz="2400" u="none" cap="none" strike="noStrike">
              <a:solidFill>
                <a:schemeClr val="dk1"/>
              </a:solidFill>
              <a:latin typeface="Calibri"/>
              <a:ea typeface="Calibri"/>
              <a:cs typeface="Calibri"/>
              <a:sym typeface="Calibri"/>
            </a:endParaRPr>
          </a:p>
        </p:txBody>
      </p:sp>
      <p:sp>
        <p:nvSpPr>
          <p:cNvPr id="101" name="Google Shape;101;p7"/>
          <p:cNvSpPr/>
          <p:nvPr/>
        </p:nvSpPr>
        <p:spPr>
          <a:xfrm>
            <a:off x="3632200" y="2159000"/>
            <a:ext cx="609600" cy="60960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2</a:t>
            </a:r>
            <a:endParaRPr b="0" i="0" sz="2400" u="none" cap="none" strike="noStrike">
              <a:solidFill>
                <a:schemeClr val="dk1"/>
              </a:solidFill>
              <a:latin typeface="Calibri"/>
              <a:ea typeface="Calibri"/>
              <a:cs typeface="Calibri"/>
              <a:sym typeface="Calibri"/>
            </a:endParaRPr>
          </a:p>
        </p:txBody>
      </p:sp>
      <p:sp>
        <p:nvSpPr>
          <p:cNvPr id="102" name="Google Shape;102;p7"/>
          <p:cNvSpPr/>
          <p:nvPr/>
        </p:nvSpPr>
        <p:spPr>
          <a:xfrm>
            <a:off x="5791200" y="2159000"/>
            <a:ext cx="609600" cy="60960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3</a:t>
            </a:r>
            <a:endParaRPr b="0" i="0" sz="2400" u="none" cap="none" strike="noStrike">
              <a:solidFill>
                <a:schemeClr val="dk1"/>
              </a:solidFill>
              <a:latin typeface="Calibri"/>
              <a:ea typeface="Calibri"/>
              <a:cs typeface="Calibri"/>
              <a:sym typeface="Calibri"/>
            </a:endParaRPr>
          </a:p>
        </p:txBody>
      </p:sp>
      <p:sp>
        <p:nvSpPr>
          <p:cNvPr id="103" name="Google Shape;103;p7"/>
          <p:cNvSpPr/>
          <p:nvPr/>
        </p:nvSpPr>
        <p:spPr>
          <a:xfrm>
            <a:off x="7950200" y="2159000"/>
            <a:ext cx="609600" cy="60960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4</a:t>
            </a:r>
            <a:endParaRPr b="0" i="0" sz="2400" u="none" cap="none" strike="noStrike">
              <a:solidFill>
                <a:schemeClr val="dk1"/>
              </a:solidFill>
              <a:latin typeface="Calibri"/>
              <a:ea typeface="Calibri"/>
              <a:cs typeface="Calibri"/>
              <a:sym typeface="Calibri"/>
            </a:endParaRPr>
          </a:p>
        </p:txBody>
      </p:sp>
      <p:sp>
        <p:nvSpPr>
          <p:cNvPr id="104" name="Google Shape;104;p7"/>
          <p:cNvSpPr/>
          <p:nvPr/>
        </p:nvSpPr>
        <p:spPr>
          <a:xfrm>
            <a:off x="10109200" y="2159000"/>
            <a:ext cx="609600" cy="60960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5</a:t>
            </a:r>
            <a:endParaRPr b="0" i="0" sz="2400" u="none" cap="none" strike="noStrike">
              <a:solidFill>
                <a:schemeClr val="dk1"/>
              </a:solidFill>
              <a:latin typeface="Calibri"/>
              <a:ea typeface="Calibri"/>
              <a:cs typeface="Calibri"/>
              <a:sym typeface="Calibri"/>
            </a:endParaRPr>
          </a:p>
        </p:txBody>
      </p:sp>
      <p:sp>
        <p:nvSpPr>
          <p:cNvPr id="105" name="Google Shape;105;p7"/>
          <p:cNvSpPr/>
          <p:nvPr/>
        </p:nvSpPr>
        <p:spPr>
          <a:xfrm>
            <a:off x="1470759" y="2984500"/>
            <a:ext cx="614482" cy="39112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Ask</a:t>
            </a:r>
            <a:endParaRPr b="0" i="0" sz="2400" u="none" cap="none" strike="noStrike">
              <a:solidFill>
                <a:schemeClr val="dk1"/>
              </a:solidFill>
              <a:latin typeface="Calibri"/>
              <a:ea typeface="Calibri"/>
              <a:cs typeface="Calibri"/>
              <a:sym typeface="Calibri"/>
            </a:endParaRPr>
          </a:p>
        </p:txBody>
      </p:sp>
      <p:sp>
        <p:nvSpPr>
          <p:cNvPr id="106" name="Google Shape;106;p7"/>
          <p:cNvSpPr/>
          <p:nvPr/>
        </p:nvSpPr>
        <p:spPr>
          <a:xfrm>
            <a:off x="783844" y="3426420"/>
            <a:ext cx="1988312" cy="539750"/>
          </a:xfrm>
          <a:prstGeom prst="rect">
            <a:avLst/>
          </a:prstGeom>
          <a:noFill/>
          <a:ln>
            <a:noFill/>
          </a:ln>
        </p:spPr>
        <p:txBody>
          <a:bodyPr anchorCtr="0" anchor="t" bIns="0" lIns="0" spcFirstLastPara="1" rIns="0" wrap="square" tIns="0">
            <a:noAutofit/>
          </a:bodyPr>
          <a:lstStyle/>
          <a:p>
            <a:pPr indent="0" lvl="0" marL="0" marR="0" rtl="0" algn="ctr">
              <a:lnSpc>
                <a:spcPct val="135000"/>
              </a:lnSpc>
              <a:spcBef>
                <a:spcPts val="0"/>
              </a:spcBef>
              <a:spcAft>
                <a:spcPts val="0"/>
              </a:spcAft>
              <a:buClr>
                <a:srgbClr val="596475"/>
              </a:buClr>
              <a:buSzPts val="1500"/>
              <a:buFont typeface="Nunito"/>
              <a:buNone/>
            </a:pPr>
            <a:r>
              <a:rPr b="0" i="0" lang="en-US" sz="1500" u="none" cap="none" strike="noStrike">
                <a:solidFill>
                  <a:srgbClr val="596475"/>
                </a:solidFill>
                <a:latin typeface="Nunito"/>
                <a:ea typeface="Nunito"/>
                <a:cs typeface="Nunito"/>
                <a:sym typeface="Nunito"/>
              </a:rPr>
              <a:t>Agent sends the task and a budget</a:t>
            </a:r>
            <a:endParaRPr b="0" i="0" sz="1500" u="none" cap="none" strike="noStrike">
              <a:solidFill>
                <a:schemeClr val="dk1"/>
              </a:solidFill>
              <a:latin typeface="Calibri"/>
              <a:ea typeface="Calibri"/>
              <a:cs typeface="Calibri"/>
              <a:sym typeface="Calibri"/>
            </a:endParaRPr>
          </a:p>
        </p:txBody>
      </p:sp>
      <p:sp>
        <p:nvSpPr>
          <p:cNvPr id="107" name="Google Shape;107;p7"/>
          <p:cNvSpPr/>
          <p:nvPr/>
        </p:nvSpPr>
        <p:spPr>
          <a:xfrm>
            <a:off x="3461469" y="2984500"/>
            <a:ext cx="951012" cy="39112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Scout</a:t>
            </a:r>
            <a:endParaRPr b="0" i="0" sz="2400" u="none" cap="none" strike="noStrike">
              <a:solidFill>
                <a:schemeClr val="dk1"/>
              </a:solidFill>
              <a:latin typeface="Calibri"/>
              <a:ea typeface="Calibri"/>
              <a:cs typeface="Calibri"/>
              <a:sym typeface="Calibri"/>
            </a:endParaRPr>
          </a:p>
        </p:txBody>
      </p:sp>
      <p:sp>
        <p:nvSpPr>
          <p:cNvPr id="108" name="Google Shape;108;p7"/>
          <p:cNvSpPr/>
          <p:nvPr/>
        </p:nvSpPr>
        <p:spPr>
          <a:xfrm>
            <a:off x="2942844" y="3426420"/>
            <a:ext cx="1988312" cy="539750"/>
          </a:xfrm>
          <a:prstGeom prst="rect">
            <a:avLst/>
          </a:prstGeom>
          <a:noFill/>
          <a:ln>
            <a:noFill/>
          </a:ln>
        </p:spPr>
        <p:txBody>
          <a:bodyPr anchorCtr="0" anchor="t" bIns="0" lIns="0" spcFirstLastPara="1" rIns="0" wrap="square" tIns="0">
            <a:noAutofit/>
          </a:bodyPr>
          <a:lstStyle/>
          <a:p>
            <a:pPr indent="0" lvl="0" marL="0" marR="0" rtl="0" algn="ctr">
              <a:lnSpc>
                <a:spcPct val="135000"/>
              </a:lnSpc>
              <a:spcBef>
                <a:spcPts val="0"/>
              </a:spcBef>
              <a:spcAft>
                <a:spcPts val="0"/>
              </a:spcAft>
              <a:buClr>
                <a:srgbClr val="596475"/>
              </a:buClr>
              <a:buSzPts val="1500"/>
              <a:buFont typeface="Nunito"/>
              <a:buNone/>
            </a:pPr>
            <a:r>
              <a:rPr b="0" i="0" lang="en-US" sz="1500" u="none" cap="none" strike="noStrike">
                <a:solidFill>
                  <a:srgbClr val="596475"/>
                </a:solidFill>
                <a:latin typeface="Nunito"/>
                <a:ea typeface="Nunito"/>
                <a:cs typeface="Nunito"/>
                <a:sym typeface="Nunito"/>
              </a:rPr>
              <a:t>Agent contacts people and picks the best</a:t>
            </a:r>
            <a:endParaRPr b="0" i="0" sz="1500" u="none" cap="none" strike="noStrike">
              <a:solidFill>
                <a:schemeClr val="dk1"/>
              </a:solidFill>
              <a:latin typeface="Calibri"/>
              <a:ea typeface="Calibri"/>
              <a:cs typeface="Calibri"/>
              <a:sym typeface="Calibri"/>
            </a:endParaRPr>
          </a:p>
        </p:txBody>
      </p:sp>
      <p:sp>
        <p:nvSpPr>
          <p:cNvPr id="109" name="Google Shape;109;p7"/>
          <p:cNvSpPr/>
          <p:nvPr/>
        </p:nvSpPr>
        <p:spPr>
          <a:xfrm>
            <a:off x="5704230" y="2984500"/>
            <a:ext cx="783491" cy="39112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Lock</a:t>
            </a:r>
            <a:endParaRPr b="0" i="0" sz="2400" u="none" cap="none" strike="noStrike">
              <a:solidFill>
                <a:schemeClr val="dk1"/>
              </a:solidFill>
              <a:latin typeface="Calibri"/>
              <a:ea typeface="Calibri"/>
              <a:cs typeface="Calibri"/>
              <a:sym typeface="Calibri"/>
            </a:endParaRPr>
          </a:p>
        </p:txBody>
      </p:sp>
      <p:sp>
        <p:nvSpPr>
          <p:cNvPr id="110" name="Google Shape;110;p7"/>
          <p:cNvSpPr/>
          <p:nvPr/>
        </p:nvSpPr>
        <p:spPr>
          <a:xfrm>
            <a:off x="5101844" y="3426420"/>
            <a:ext cx="1988312" cy="539750"/>
          </a:xfrm>
          <a:prstGeom prst="rect">
            <a:avLst/>
          </a:prstGeom>
          <a:noFill/>
          <a:ln>
            <a:noFill/>
          </a:ln>
        </p:spPr>
        <p:txBody>
          <a:bodyPr anchorCtr="0" anchor="t" bIns="0" lIns="0" spcFirstLastPara="1" rIns="0" wrap="square" tIns="0">
            <a:noAutofit/>
          </a:bodyPr>
          <a:lstStyle/>
          <a:p>
            <a:pPr indent="0" lvl="0" marL="0" marR="0" rtl="0" algn="ctr">
              <a:lnSpc>
                <a:spcPct val="135000"/>
              </a:lnSpc>
              <a:spcBef>
                <a:spcPts val="0"/>
              </a:spcBef>
              <a:spcAft>
                <a:spcPts val="0"/>
              </a:spcAft>
              <a:buClr>
                <a:srgbClr val="596475"/>
              </a:buClr>
              <a:buSzPts val="1500"/>
              <a:buFont typeface="Nunito"/>
              <a:buNone/>
            </a:pPr>
            <a:r>
              <a:rPr b="0" i="0" lang="en-US" sz="1500" u="none" cap="none" strike="noStrike">
                <a:solidFill>
                  <a:srgbClr val="596475"/>
                </a:solidFill>
                <a:latin typeface="Nunito"/>
                <a:ea typeface="Nunito"/>
                <a:cs typeface="Nunito"/>
                <a:sym typeface="Nunito"/>
              </a:rPr>
              <a:t>Payment held in escrow</a:t>
            </a:r>
            <a:endParaRPr b="0" i="0" sz="1500" u="none" cap="none" strike="noStrike">
              <a:solidFill>
                <a:schemeClr val="dk1"/>
              </a:solidFill>
              <a:latin typeface="Calibri"/>
              <a:ea typeface="Calibri"/>
              <a:cs typeface="Calibri"/>
              <a:sym typeface="Calibri"/>
            </a:endParaRPr>
          </a:p>
        </p:txBody>
      </p:sp>
      <p:sp>
        <p:nvSpPr>
          <p:cNvPr id="111" name="Google Shape;111;p7"/>
          <p:cNvSpPr/>
          <p:nvPr/>
        </p:nvSpPr>
        <p:spPr>
          <a:xfrm>
            <a:off x="7657668" y="2984500"/>
            <a:ext cx="1194614" cy="39112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Deliver</a:t>
            </a:r>
            <a:endParaRPr b="0" i="0" sz="2400" u="none" cap="none" strike="noStrike">
              <a:solidFill>
                <a:schemeClr val="dk1"/>
              </a:solidFill>
              <a:latin typeface="Calibri"/>
              <a:ea typeface="Calibri"/>
              <a:cs typeface="Calibri"/>
              <a:sym typeface="Calibri"/>
            </a:endParaRPr>
          </a:p>
        </p:txBody>
      </p:sp>
      <p:sp>
        <p:nvSpPr>
          <p:cNvPr id="112" name="Google Shape;112;p7"/>
          <p:cNvSpPr/>
          <p:nvPr/>
        </p:nvSpPr>
        <p:spPr>
          <a:xfrm>
            <a:off x="7167066" y="3426420"/>
            <a:ext cx="2175867" cy="282575"/>
          </a:xfrm>
          <a:prstGeom prst="rect">
            <a:avLst/>
          </a:prstGeom>
          <a:noFill/>
          <a:ln>
            <a:noFill/>
          </a:ln>
        </p:spPr>
        <p:txBody>
          <a:bodyPr anchorCtr="0" anchor="t" bIns="0" lIns="0" spcFirstLastPara="1" rIns="0" wrap="square" tIns="0">
            <a:noAutofit/>
          </a:bodyPr>
          <a:lstStyle/>
          <a:p>
            <a:pPr indent="0" lvl="0" marL="0" marR="0" rtl="0" algn="ctr">
              <a:lnSpc>
                <a:spcPct val="135000"/>
              </a:lnSpc>
              <a:spcBef>
                <a:spcPts val="0"/>
              </a:spcBef>
              <a:spcAft>
                <a:spcPts val="0"/>
              </a:spcAft>
              <a:buClr>
                <a:srgbClr val="596475"/>
              </a:buClr>
              <a:buSzPts val="1500"/>
              <a:buFont typeface="Nunito"/>
              <a:buNone/>
            </a:pPr>
            <a:r>
              <a:rPr b="0" i="0" lang="en-US" sz="1500" u="none" cap="none" strike="noStrike">
                <a:solidFill>
                  <a:srgbClr val="596475"/>
                </a:solidFill>
                <a:latin typeface="Nunito"/>
                <a:ea typeface="Nunito"/>
                <a:cs typeface="Nunito"/>
                <a:sym typeface="Nunito"/>
              </a:rPr>
              <a:t>Human does the task</a:t>
            </a:r>
            <a:endParaRPr b="0" i="0" sz="1500" u="none" cap="none" strike="noStrike">
              <a:solidFill>
                <a:schemeClr val="dk1"/>
              </a:solidFill>
              <a:latin typeface="Calibri"/>
              <a:ea typeface="Calibri"/>
              <a:cs typeface="Calibri"/>
              <a:sym typeface="Calibri"/>
            </a:endParaRPr>
          </a:p>
        </p:txBody>
      </p:sp>
      <p:sp>
        <p:nvSpPr>
          <p:cNvPr id="113" name="Google Shape;113;p7"/>
          <p:cNvSpPr/>
          <p:nvPr/>
        </p:nvSpPr>
        <p:spPr>
          <a:xfrm>
            <a:off x="9894411" y="2984500"/>
            <a:ext cx="1039177" cy="39112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Verify</a:t>
            </a:r>
            <a:endParaRPr b="0" i="0" sz="2400" u="none" cap="none" strike="noStrike">
              <a:solidFill>
                <a:schemeClr val="dk1"/>
              </a:solidFill>
              <a:latin typeface="Calibri"/>
              <a:ea typeface="Calibri"/>
              <a:cs typeface="Calibri"/>
              <a:sym typeface="Calibri"/>
            </a:endParaRPr>
          </a:p>
        </p:txBody>
      </p:sp>
      <p:sp>
        <p:nvSpPr>
          <p:cNvPr id="114" name="Google Shape;114;p7"/>
          <p:cNvSpPr/>
          <p:nvPr/>
        </p:nvSpPr>
        <p:spPr>
          <a:xfrm>
            <a:off x="9419844" y="3426420"/>
            <a:ext cx="1988312" cy="539750"/>
          </a:xfrm>
          <a:prstGeom prst="rect">
            <a:avLst/>
          </a:prstGeom>
          <a:noFill/>
          <a:ln>
            <a:noFill/>
          </a:ln>
        </p:spPr>
        <p:txBody>
          <a:bodyPr anchorCtr="0" anchor="t" bIns="0" lIns="0" spcFirstLastPara="1" rIns="0" wrap="square" tIns="0">
            <a:noAutofit/>
          </a:bodyPr>
          <a:lstStyle/>
          <a:p>
            <a:pPr indent="0" lvl="0" marL="0" marR="0" rtl="0" algn="ctr">
              <a:lnSpc>
                <a:spcPct val="135000"/>
              </a:lnSpc>
              <a:spcBef>
                <a:spcPts val="0"/>
              </a:spcBef>
              <a:spcAft>
                <a:spcPts val="0"/>
              </a:spcAft>
              <a:buClr>
                <a:srgbClr val="596475"/>
              </a:buClr>
              <a:buSzPts val="1500"/>
              <a:buFont typeface="Nunito"/>
              <a:buNone/>
            </a:pPr>
            <a:r>
              <a:rPr b="0" i="0" lang="en-US" sz="1500" u="none" cap="none" strike="noStrike">
                <a:solidFill>
                  <a:srgbClr val="596475"/>
                </a:solidFill>
                <a:latin typeface="Nunito"/>
                <a:ea typeface="Nunito"/>
                <a:cs typeface="Nunito"/>
                <a:sym typeface="Nunito"/>
              </a:rPr>
              <a:t>Judge checks the rubric</a:t>
            </a:r>
            <a:endParaRPr b="0" i="0" sz="1500" u="none" cap="none" strike="noStrike">
              <a:solidFill>
                <a:schemeClr val="dk1"/>
              </a:solidFill>
              <a:latin typeface="Calibri"/>
              <a:ea typeface="Calibri"/>
              <a:cs typeface="Calibri"/>
              <a:sym typeface="Calibri"/>
            </a:endParaRPr>
          </a:p>
        </p:txBody>
      </p:sp>
      <p:sp>
        <p:nvSpPr>
          <p:cNvPr id="115" name="Google Shape;115;p7"/>
          <p:cNvSpPr/>
          <p:nvPr/>
        </p:nvSpPr>
        <p:spPr>
          <a:xfrm>
            <a:off x="812800" y="4508500"/>
            <a:ext cx="5181600" cy="1079500"/>
          </a:xfrm>
          <a:prstGeom prst="roundRect">
            <a:avLst>
              <a:gd fmla="val 28235" name="adj"/>
            </a:avLst>
          </a:prstGeom>
          <a:solidFill>
            <a:srgbClr val="D7F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1117600" y="4737100"/>
            <a:ext cx="4709160" cy="34959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4A39"/>
              </a:buClr>
              <a:buSzPts val="2145"/>
              <a:buFont typeface="Fredoka"/>
              <a:buNone/>
            </a:pPr>
            <a:r>
              <a:rPr b="1" i="0" lang="en-US" sz="2145" u="none" cap="none" strike="noStrike">
                <a:solidFill>
                  <a:srgbClr val="0B4A39"/>
                </a:solidFill>
                <a:latin typeface="Fredoka"/>
                <a:ea typeface="Fredoka"/>
                <a:cs typeface="Fredoka"/>
                <a:sym typeface="Fredoka"/>
              </a:rPr>
              <a:t>Pass</a:t>
            </a:r>
            <a:endParaRPr b="0" i="0" sz="2145" u="none" cap="none" strike="noStrike">
              <a:solidFill>
                <a:schemeClr val="dk1"/>
              </a:solidFill>
              <a:latin typeface="Calibri"/>
              <a:ea typeface="Calibri"/>
              <a:cs typeface="Calibri"/>
              <a:sym typeface="Calibri"/>
            </a:endParaRPr>
          </a:p>
        </p:txBody>
      </p:sp>
      <p:sp>
        <p:nvSpPr>
          <p:cNvPr id="117" name="Google Shape;117;p7"/>
          <p:cNvSpPr/>
          <p:nvPr/>
        </p:nvSpPr>
        <p:spPr>
          <a:xfrm>
            <a:off x="1117600" y="5112097"/>
            <a:ext cx="4709160" cy="272703"/>
          </a:xfrm>
          <a:prstGeom prst="rect">
            <a:avLst/>
          </a:prstGeom>
          <a:noFill/>
          <a:ln>
            <a:noFill/>
          </a:ln>
        </p:spPr>
        <p:txBody>
          <a:bodyPr anchorCtr="0" anchor="t" bIns="0" lIns="0" spcFirstLastPara="1" rIns="0" wrap="square" tIns="0">
            <a:noAutofit/>
          </a:bodyPr>
          <a:lstStyle/>
          <a:p>
            <a:pPr indent="0" lvl="0" marL="0" marR="0" rtl="0" algn="l">
              <a:lnSpc>
                <a:spcPct val="139985"/>
              </a:lnSpc>
              <a:spcBef>
                <a:spcPts val="0"/>
              </a:spcBef>
              <a:spcAft>
                <a:spcPts val="0"/>
              </a:spcAft>
              <a:buClr>
                <a:srgbClr val="0B4A39"/>
              </a:buClr>
              <a:buSzPts val="1408"/>
              <a:buFont typeface="Nunito"/>
              <a:buNone/>
            </a:pPr>
            <a:r>
              <a:rPr b="0" i="0" lang="en-US" sz="1408" u="none" cap="none" strike="noStrike">
                <a:solidFill>
                  <a:srgbClr val="0B4A39"/>
                </a:solidFill>
                <a:latin typeface="Nunito"/>
                <a:ea typeface="Nunito"/>
                <a:cs typeface="Nunito"/>
                <a:sym typeface="Nunito"/>
              </a:rPr>
              <a:t>Funds release to the human.</a:t>
            </a:r>
            <a:endParaRPr b="0" i="0" sz="1408" u="none" cap="none" strike="noStrike">
              <a:solidFill>
                <a:schemeClr val="dk1"/>
              </a:solidFill>
              <a:latin typeface="Calibri"/>
              <a:ea typeface="Calibri"/>
              <a:cs typeface="Calibri"/>
              <a:sym typeface="Calibri"/>
            </a:endParaRPr>
          </a:p>
        </p:txBody>
      </p:sp>
      <p:sp>
        <p:nvSpPr>
          <p:cNvPr id="118" name="Google Shape;118;p7"/>
          <p:cNvSpPr/>
          <p:nvPr/>
        </p:nvSpPr>
        <p:spPr>
          <a:xfrm>
            <a:off x="6197600" y="4508500"/>
            <a:ext cx="5181600" cy="1079500"/>
          </a:xfrm>
          <a:prstGeom prst="roundRect">
            <a:avLst>
              <a:gd fmla="val 28235" name="adj"/>
            </a:avLst>
          </a:prstGeom>
          <a:solidFill>
            <a:srgbClr val="FFD9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6502400" y="4737100"/>
            <a:ext cx="4709160" cy="34959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7A1B2D"/>
              </a:buClr>
              <a:buSzPts val="2145"/>
              <a:buFont typeface="Fredoka"/>
              <a:buNone/>
            </a:pPr>
            <a:r>
              <a:rPr b="1" i="0" lang="en-US" sz="2145" u="none" cap="none" strike="noStrike">
                <a:solidFill>
                  <a:srgbClr val="7A1B2D"/>
                </a:solidFill>
                <a:latin typeface="Fredoka"/>
                <a:ea typeface="Fredoka"/>
                <a:cs typeface="Fredoka"/>
                <a:sym typeface="Fredoka"/>
              </a:rPr>
              <a:t>Fail</a:t>
            </a:r>
            <a:endParaRPr b="0" i="0" sz="2145" u="none" cap="none" strike="noStrike">
              <a:solidFill>
                <a:schemeClr val="dk1"/>
              </a:solidFill>
              <a:latin typeface="Calibri"/>
              <a:ea typeface="Calibri"/>
              <a:cs typeface="Calibri"/>
              <a:sym typeface="Calibri"/>
            </a:endParaRPr>
          </a:p>
        </p:txBody>
      </p:sp>
      <p:sp>
        <p:nvSpPr>
          <p:cNvPr id="120" name="Google Shape;120;p7"/>
          <p:cNvSpPr/>
          <p:nvPr/>
        </p:nvSpPr>
        <p:spPr>
          <a:xfrm>
            <a:off x="6502400" y="5112097"/>
            <a:ext cx="4709160" cy="272703"/>
          </a:xfrm>
          <a:prstGeom prst="rect">
            <a:avLst/>
          </a:prstGeom>
          <a:noFill/>
          <a:ln>
            <a:noFill/>
          </a:ln>
        </p:spPr>
        <p:txBody>
          <a:bodyPr anchorCtr="0" anchor="t" bIns="0" lIns="0" spcFirstLastPara="1" rIns="0" wrap="square" tIns="0">
            <a:noAutofit/>
          </a:bodyPr>
          <a:lstStyle/>
          <a:p>
            <a:pPr indent="0" lvl="0" marL="0" marR="0" rtl="0" algn="l">
              <a:lnSpc>
                <a:spcPct val="139985"/>
              </a:lnSpc>
              <a:spcBef>
                <a:spcPts val="0"/>
              </a:spcBef>
              <a:spcAft>
                <a:spcPts val="0"/>
              </a:spcAft>
              <a:buClr>
                <a:srgbClr val="7A1B2D"/>
              </a:buClr>
              <a:buSzPts val="1408"/>
              <a:buFont typeface="Nunito"/>
              <a:buNone/>
            </a:pPr>
            <a:r>
              <a:rPr b="0" i="0" lang="en-US" sz="1408" u="none" cap="none" strike="noStrike">
                <a:solidFill>
                  <a:srgbClr val="7A1B2D"/>
                </a:solidFill>
                <a:latin typeface="Nunito"/>
                <a:ea typeface="Nunito"/>
                <a:cs typeface="Nunito"/>
                <a:sym typeface="Nunito"/>
              </a:rPr>
              <a:t>Funds refund to the agent.</a:t>
            </a:r>
            <a:endParaRPr b="0" i="0" sz="1408" u="none" cap="none" strike="noStrike">
              <a:solidFill>
                <a:schemeClr val="dk1"/>
              </a:solidFill>
              <a:latin typeface="Calibri"/>
              <a:ea typeface="Calibri"/>
              <a:cs typeface="Calibri"/>
              <a:sym typeface="Calibri"/>
            </a:endParaRPr>
          </a:p>
        </p:txBody>
      </p:sp>
      <p:sp>
        <p:nvSpPr>
          <p:cNvPr id="121" name="Google Shape;121;p7"/>
          <p:cNvSpPr/>
          <p:nvPr/>
        </p:nvSpPr>
        <p:spPr>
          <a:xfrm>
            <a:off x="654304" y="5778500"/>
            <a:ext cx="10883392" cy="2921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596475"/>
              </a:buClr>
              <a:buSzPts val="1500"/>
              <a:buFont typeface="Nunito"/>
              <a:buNone/>
            </a:pPr>
            <a:r>
              <a:rPr b="0" i="0" lang="en-US" sz="1500" u="none" cap="none" strike="noStrike">
                <a:solidFill>
                  <a:srgbClr val="596475"/>
                </a:solidFill>
                <a:latin typeface="Nunito"/>
                <a:ea typeface="Nunito"/>
                <a:cs typeface="Nunito"/>
                <a:sym typeface="Nunito"/>
              </a:rPr>
              <a:t>The result comes back in the same thread the agent started.</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E8E9"/>
        </a:solidFill>
      </p:bgPr>
    </p:bg>
    <p:spTree>
      <p:nvGrpSpPr>
        <p:cNvPr id="126" name="Shape 126"/>
        <p:cNvGrpSpPr/>
        <p:nvPr/>
      </p:nvGrpSpPr>
      <p:grpSpPr>
        <a:xfrm>
          <a:off x="0" y="0"/>
          <a:ext cx="0" cy="0"/>
          <a:chOff x="0" y="0"/>
          <a:chExt cx="0" cy="0"/>
        </a:xfrm>
      </p:grpSpPr>
      <p:sp>
        <p:nvSpPr>
          <p:cNvPr id="127" name="Google Shape;127;p8"/>
          <p:cNvSpPr/>
          <p:nvPr/>
        </p:nvSpPr>
        <p:spPr>
          <a:xfrm>
            <a:off x="812800" y="762000"/>
            <a:ext cx="4445000" cy="5207000"/>
          </a:xfrm>
          <a:prstGeom prst="roundRect">
            <a:avLst>
              <a:gd fmla="val 11429" name="adj"/>
            </a:avLst>
          </a:prstGeom>
          <a:solidFill>
            <a:srgbClr val="1F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901700" y="850900"/>
            <a:ext cx="4267200" cy="5029200"/>
          </a:xfrm>
          <a:prstGeom prst="roundRect">
            <a:avLst>
              <a:gd fmla="val 10119" name="adj"/>
            </a:avLst>
          </a:prstGeom>
          <a:solidFill>
            <a:srgbClr val="FFF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901700" y="850900"/>
            <a:ext cx="4267200" cy="1244600"/>
          </a:xfrm>
          <a:custGeom>
            <a:rect b="b" l="l" r="r" t="t"/>
            <a:pathLst>
              <a:path extrusionOk="0" h="1244600" w="4267200">
                <a:moveTo>
                  <a:pt x="431800" y="0"/>
                </a:moveTo>
                <a:lnTo>
                  <a:pt x="3835400" y="0"/>
                </a:lnTo>
                <a:cubicBezTo>
                  <a:pt x="3949920" y="0"/>
                  <a:pt x="4059750" y="45493"/>
                  <a:pt x="4140729" y="126471"/>
                </a:cubicBezTo>
                <a:cubicBezTo>
                  <a:pt x="4221707" y="207450"/>
                  <a:pt x="4267200" y="317280"/>
                  <a:pt x="4267200" y="431800"/>
                </a:cubicBezTo>
                <a:lnTo>
                  <a:pt x="4267200" y="1244600"/>
                </a:lnTo>
                <a:lnTo>
                  <a:pt x="0" y="1244600"/>
                </a:lnTo>
                <a:lnTo>
                  <a:pt x="0" y="431800"/>
                </a:lnTo>
                <a:cubicBezTo>
                  <a:pt x="0" y="193323"/>
                  <a:pt x="193323" y="0"/>
                  <a:pt x="431800" y="0"/>
                </a:cubicBezTo>
                <a:close/>
              </a:path>
            </a:pathLst>
          </a:custGeom>
          <a:solidFill>
            <a:srgbClr val="FDE8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2590800" y="952500"/>
            <a:ext cx="889000" cy="241300"/>
          </a:xfrm>
          <a:prstGeom prst="roundRect">
            <a:avLst>
              <a:gd fmla="val 50000" name="adj"/>
            </a:avLst>
          </a:prstGeom>
          <a:solidFill>
            <a:srgbClr val="1F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1117600" y="1409700"/>
            <a:ext cx="533400" cy="533400"/>
          </a:xfrm>
          <a:prstGeom prst="roundRect">
            <a:avLst>
              <a:gd fmla="val 50000" name="adj"/>
            </a:avLst>
          </a:prstGeom>
          <a:solidFill>
            <a:srgbClr val="FFF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1790700" y="1422400"/>
            <a:ext cx="26162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232"/>
              </a:buClr>
              <a:buSzPts val="2000"/>
              <a:buFont typeface="Fredoka"/>
              <a:buNone/>
            </a:pPr>
            <a:r>
              <a:rPr b="1" i="0" lang="en-US" sz="2000" u="none" cap="none" strike="noStrike">
                <a:solidFill>
                  <a:srgbClr val="1F2232"/>
                </a:solidFill>
                <a:latin typeface="Fredoka"/>
                <a:ea typeface="Fredoka"/>
                <a:cs typeface="Fredoka"/>
                <a:sym typeface="Fredoka"/>
              </a:rPr>
              <a:t>HaaS</a:t>
            </a:r>
            <a:endParaRPr b="0" i="0" sz="2000" u="none" cap="none" strike="noStrike">
              <a:solidFill>
                <a:schemeClr val="dk1"/>
              </a:solidFill>
              <a:latin typeface="Calibri"/>
              <a:ea typeface="Calibri"/>
              <a:cs typeface="Calibri"/>
              <a:sym typeface="Calibri"/>
            </a:endParaRPr>
          </a:p>
        </p:txBody>
      </p:sp>
      <p:sp>
        <p:nvSpPr>
          <p:cNvPr id="133" name="Google Shape;133;p8"/>
          <p:cNvSpPr/>
          <p:nvPr/>
        </p:nvSpPr>
        <p:spPr>
          <a:xfrm>
            <a:off x="1790700" y="1752600"/>
            <a:ext cx="274701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200"/>
              <a:buFont typeface="Nunito"/>
              <a:buNone/>
            </a:pPr>
            <a:r>
              <a:rPr b="0" i="0" lang="en-US" sz="1200" u="none" cap="none" strike="noStrike">
                <a:solidFill>
                  <a:srgbClr val="596475"/>
                </a:solidFill>
                <a:latin typeface="Nunito"/>
                <a:ea typeface="Nunito"/>
                <a:cs typeface="Nunito"/>
                <a:sym typeface="Nunito"/>
              </a:rPr>
              <a:t>Your agent · online</a:t>
            </a:r>
            <a:endParaRPr b="0" i="0" sz="1200" u="none" cap="none" strike="noStrike">
              <a:solidFill>
                <a:schemeClr val="dk1"/>
              </a:solidFill>
              <a:latin typeface="Calibri"/>
              <a:ea typeface="Calibri"/>
              <a:cs typeface="Calibri"/>
              <a:sym typeface="Calibri"/>
            </a:endParaRPr>
          </a:p>
        </p:txBody>
      </p:sp>
      <p:sp>
        <p:nvSpPr>
          <p:cNvPr id="134" name="Google Shape;134;p8"/>
          <p:cNvSpPr/>
          <p:nvPr/>
        </p:nvSpPr>
        <p:spPr>
          <a:xfrm>
            <a:off x="2222500" y="2286000"/>
            <a:ext cx="2794000" cy="716260"/>
          </a:xfrm>
          <a:prstGeom prst="roundRect">
            <a:avLst>
              <a:gd fmla="val 31916" name="adj"/>
            </a:avLst>
          </a:prstGeom>
          <a:solidFill>
            <a:srgbClr val="1F2232"/>
          </a:solidFill>
          <a:ln>
            <a:noFill/>
          </a:ln>
        </p:spPr>
        <p:txBody>
          <a:bodyPr anchorCtr="0" anchor="t" bIns="34625" lIns="98125" spcFirstLastPara="1" rIns="24225" wrap="square" tIns="60025">
            <a:noAutofit/>
          </a:bodyPr>
          <a:lstStyle/>
          <a:p>
            <a:pPr indent="0" lvl="0" marL="0" marR="0" rtl="0" algn="l">
              <a:lnSpc>
                <a:spcPct val="140000"/>
              </a:lnSpc>
              <a:spcBef>
                <a:spcPts val="0"/>
              </a:spcBef>
              <a:spcAft>
                <a:spcPts val="0"/>
              </a:spcAft>
              <a:buClr>
                <a:srgbClr val="FDE8E9"/>
              </a:buClr>
              <a:buSzPts val="1300"/>
              <a:buFont typeface="Nunito"/>
              <a:buNone/>
            </a:pPr>
            <a:r>
              <a:rPr b="0" i="0" lang="en-US" sz="1300" u="none" cap="none" strike="noStrike">
                <a:solidFill>
                  <a:srgbClr val="FDE8E9"/>
                </a:solidFill>
                <a:latin typeface="Nunito"/>
                <a:ea typeface="Nunito"/>
                <a:cs typeface="Nunito"/>
                <a:sym typeface="Nunito"/>
              </a:rPr>
              <a:t>Wait in line for me at the SF DMV until 1 PM.</a:t>
            </a:r>
            <a:endParaRPr b="0" i="0" sz="1300" u="none" cap="none" strike="noStrike">
              <a:solidFill>
                <a:schemeClr val="dk1"/>
              </a:solidFill>
              <a:latin typeface="Calibri"/>
              <a:ea typeface="Calibri"/>
              <a:cs typeface="Calibri"/>
              <a:sym typeface="Calibri"/>
            </a:endParaRPr>
          </a:p>
        </p:txBody>
      </p:sp>
      <p:sp>
        <p:nvSpPr>
          <p:cNvPr id="135" name="Google Shape;135;p8"/>
          <p:cNvSpPr/>
          <p:nvPr/>
        </p:nvSpPr>
        <p:spPr>
          <a:xfrm>
            <a:off x="1047750" y="3498850"/>
            <a:ext cx="342900" cy="342900"/>
          </a:xfrm>
          <a:prstGeom prst="roundRect">
            <a:avLst>
              <a:gd fmla="val 50000" name="adj"/>
            </a:avLst>
          </a:prstGeom>
          <a:solidFill>
            <a:srgbClr val="FDE8E9"/>
          </a:solidFill>
          <a:ln cap="flat" cmpd="sng" w="12700">
            <a:solidFill>
              <a:srgbClr val="F3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1498600" y="3130550"/>
            <a:ext cx="3429000" cy="716260"/>
          </a:xfrm>
          <a:prstGeom prst="roundRect">
            <a:avLst>
              <a:gd fmla="val 31916" name="adj"/>
            </a:avLst>
          </a:prstGeom>
          <a:solidFill>
            <a:srgbClr val="FDE8E9"/>
          </a:solidFill>
          <a:ln>
            <a:noFill/>
          </a:ln>
        </p:spPr>
        <p:txBody>
          <a:bodyPr anchorCtr="0" anchor="t" bIns="34625" lIns="98125" spcFirstLastPara="1" rIns="5175" wrap="square" tIns="60025">
            <a:noAutofit/>
          </a:bodyPr>
          <a:lstStyle/>
          <a:p>
            <a:pPr indent="0" lvl="0" marL="0" marR="0" rtl="0" algn="l">
              <a:lnSpc>
                <a:spcPct val="140000"/>
              </a:lnSpc>
              <a:spcBef>
                <a:spcPts val="0"/>
              </a:spcBef>
              <a:spcAft>
                <a:spcPts val="0"/>
              </a:spcAft>
              <a:buClr>
                <a:srgbClr val="1F2232"/>
              </a:buClr>
              <a:buSzPts val="1300"/>
              <a:buFont typeface="Nunito"/>
              <a:buNone/>
            </a:pPr>
            <a:r>
              <a:rPr b="0" i="0" lang="en-US" sz="1300" u="none" cap="none" strike="noStrike">
                <a:solidFill>
                  <a:srgbClr val="1F2232"/>
                </a:solidFill>
                <a:latin typeface="Nunito"/>
                <a:ea typeface="Nunito"/>
                <a:cs typeface="Nunito"/>
                <a:sym typeface="Nunito"/>
              </a:rPr>
              <a:t>Verified waiter found at $25/hr. $50 locked in escrow. Go?</a:t>
            </a:r>
            <a:endParaRPr b="0" i="0" sz="1300" u="none" cap="none" strike="noStrike">
              <a:solidFill>
                <a:schemeClr val="dk1"/>
              </a:solidFill>
              <a:latin typeface="Calibri"/>
              <a:ea typeface="Calibri"/>
              <a:cs typeface="Calibri"/>
              <a:sym typeface="Calibri"/>
            </a:endParaRPr>
          </a:p>
        </p:txBody>
      </p:sp>
      <p:sp>
        <p:nvSpPr>
          <p:cNvPr id="137" name="Google Shape;137;p8"/>
          <p:cNvSpPr/>
          <p:nvPr/>
        </p:nvSpPr>
        <p:spPr>
          <a:xfrm>
            <a:off x="4254500" y="3975100"/>
            <a:ext cx="762000" cy="485130"/>
          </a:xfrm>
          <a:prstGeom prst="roundRect">
            <a:avLst>
              <a:gd fmla="val 47121" name="adj"/>
            </a:avLst>
          </a:prstGeom>
          <a:solidFill>
            <a:srgbClr val="1F2232"/>
          </a:solidFill>
          <a:ln>
            <a:noFill/>
          </a:ln>
        </p:spPr>
        <p:txBody>
          <a:bodyPr anchorCtr="0" anchor="t" bIns="34625" lIns="72725" spcFirstLastPara="1" rIns="72725" wrap="square" tIns="60025">
            <a:noAutofit/>
          </a:bodyPr>
          <a:lstStyle/>
          <a:p>
            <a:pPr indent="0" lvl="0" marL="0" marR="0" rtl="0" algn="ctr">
              <a:lnSpc>
                <a:spcPct val="140000"/>
              </a:lnSpc>
              <a:spcBef>
                <a:spcPts val="0"/>
              </a:spcBef>
              <a:spcAft>
                <a:spcPts val="0"/>
              </a:spcAft>
              <a:buClr>
                <a:srgbClr val="FDE8E9"/>
              </a:buClr>
              <a:buSzPts val="1300"/>
              <a:buFont typeface="Nunito"/>
              <a:buNone/>
            </a:pPr>
            <a:r>
              <a:rPr b="0" i="0" lang="en-US" sz="1300" u="none" cap="none" strike="noStrike">
                <a:solidFill>
                  <a:srgbClr val="FDE8E9"/>
                </a:solidFill>
                <a:latin typeface="Nunito"/>
                <a:ea typeface="Nunito"/>
                <a:cs typeface="Nunito"/>
                <a:sym typeface="Nunito"/>
              </a:rPr>
              <a:t>Yes</a:t>
            </a:r>
            <a:endParaRPr b="0" i="0" sz="1300" u="none" cap="none" strike="noStrike">
              <a:solidFill>
                <a:schemeClr val="dk1"/>
              </a:solidFill>
              <a:latin typeface="Calibri"/>
              <a:ea typeface="Calibri"/>
              <a:cs typeface="Calibri"/>
              <a:sym typeface="Calibri"/>
            </a:endParaRPr>
          </a:p>
        </p:txBody>
      </p:sp>
      <p:sp>
        <p:nvSpPr>
          <p:cNvPr id="138" name="Google Shape;138;p8"/>
          <p:cNvSpPr/>
          <p:nvPr/>
        </p:nvSpPr>
        <p:spPr>
          <a:xfrm>
            <a:off x="1047750" y="4978400"/>
            <a:ext cx="342900" cy="342900"/>
          </a:xfrm>
          <a:prstGeom prst="roundRect">
            <a:avLst>
              <a:gd fmla="val 50000" name="adj"/>
            </a:avLst>
          </a:prstGeom>
          <a:solidFill>
            <a:srgbClr val="FDE8E9"/>
          </a:solidFill>
          <a:ln cap="flat" cmpd="sng" w="12700">
            <a:solidFill>
              <a:srgbClr val="F3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1498600" y="4610100"/>
            <a:ext cx="3429000" cy="716260"/>
          </a:xfrm>
          <a:prstGeom prst="roundRect">
            <a:avLst>
              <a:gd fmla="val 31916" name="adj"/>
            </a:avLst>
          </a:prstGeom>
          <a:solidFill>
            <a:srgbClr val="D7F5E8"/>
          </a:solidFill>
          <a:ln>
            <a:noFill/>
          </a:ln>
        </p:spPr>
        <p:txBody>
          <a:bodyPr anchorCtr="0" anchor="t" bIns="34625" lIns="98125" spcFirstLastPara="1" rIns="5175" wrap="square" tIns="60025">
            <a:noAutofit/>
          </a:bodyPr>
          <a:lstStyle/>
          <a:p>
            <a:pPr indent="0" lvl="0" marL="0" marR="0" rtl="0" algn="l">
              <a:lnSpc>
                <a:spcPct val="140000"/>
              </a:lnSpc>
              <a:spcBef>
                <a:spcPts val="0"/>
              </a:spcBef>
              <a:spcAft>
                <a:spcPts val="0"/>
              </a:spcAft>
              <a:buClr>
                <a:srgbClr val="0B4A39"/>
              </a:buClr>
              <a:buSzPts val="1300"/>
              <a:buFont typeface="Nunito"/>
              <a:buNone/>
            </a:pPr>
            <a:r>
              <a:rPr b="1" i="0" lang="en-US" sz="1300" u="none" cap="none" strike="noStrike">
                <a:solidFill>
                  <a:srgbClr val="0B4A39"/>
                </a:solidFill>
                <a:latin typeface="Nunito"/>
                <a:ea typeface="Nunito"/>
                <a:cs typeface="Nunito"/>
                <a:sym typeface="Nunito"/>
              </a:rPr>
              <a:t>Done. 1.5 hr in line. $37.50 paid, $12.50 refunded.</a:t>
            </a:r>
            <a:endParaRPr b="0" i="0" sz="1300" u="none" cap="none" strike="noStrike">
              <a:solidFill>
                <a:schemeClr val="dk1"/>
              </a:solidFill>
              <a:latin typeface="Calibri"/>
              <a:ea typeface="Calibri"/>
              <a:cs typeface="Calibri"/>
              <a:sym typeface="Calibri"/>
            </a:endParaRPr>
          </a:p>
        </p:txBody>
      </p:sp>
      <p:sp>
        <p:nvSpPr>
          <p:cNvPr id="140" name="Google Shape;140;p8"/>
          <p:cNvSpPr/>
          <p:nvPr/>
        </p:nvSpPr>
        <p:spPr>
          <a:xfrm>
            <a:off x="1085850" y="5429250"/>
            <a:ext cx="3543300" cy="317500"/>
          </a:xfrm>
          <a:prstGeom prst="roundRect">
            <a:avLst>
              <a:gd fmla="val 50000" name="adj"/>
            </a:avLst>
          </a:prstGeom>
          <a:solidFill>
            <a:srgbClr val="FFFCFC"/>
          </a:solidFill>
          <a:ln cap="flat" cmpd="sng" w="12700">
            <a:solidFill>
              <a:srgbClr val="E3BA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1257300" y="5499100"/>
            <a:ext cx="19621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200"/>
              <a:buFont typeface="Nunito"/>
              <a:buNone/>
            </a:pPr>
            <a:r>
              <a:rPr b="0" i="0" lang="en-US" sz="1200" u="none" cap="none" strike="noStrike">
                <a:solidFill>
                  <a:srgbClr val="596475"/>
                </a:solidFill>
                <a:latin typeface="Nunito"/>
                <a:ea typeface="Nunito"/>
                <a:cs typeface="Nunito"/>
                <a:sym typeface="Nunito"/>
              </a:rPr>
              <a:t>Message</a:t>
            </a:r>
            <a:endParaRPr b="0" i="0" sz="1200" u="none" cap="none" strike="noStrike">
              <a:solidFill>
                <a:schemeClr val="dk1"/>
              </a:solidFill>
              <a:latin typeface="Calibri"/>
              <a:ea typeface="Calibri"/>
              <a:cs typeface="Calibri"/>
              <a:sym typeface="Calibri"/>
            </a:endParaRPr>
          </a:p>
        </p:txBody>
      </p:sp>
      <p:sp>
        <p:nvSpPr>
          <p:cNvPr id="142" name="Google Shape;142;p8"/>
          <p:cNvSpPr/>
          <p:nvPr/>
        </p:nvSpPr>
        <p:spPr>
          <a:xfrm>
            <a:off x="4711700" y="5435600"/>
            <a:ext cx="304800" cy="304800"/>
          </a:xfrm>
          <a:prstGeom prst="roundRect">
            <a:avLst>
              <a:gd fmla="val 50000" name="adj"/>
            </a:avLst>
          </a:prstGeom>
          <a:solidFill>
            <a:srgbClr val="1F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aperPlane" id="143" name="Google Shape;143;p8"/>
          <p:cNvPicPr preferRelativeResize="0"/>
          <p:nvPr/>
        </p:nvPicPr>
        <p:blipFill rotWithShape="1">
          <a:blip r:embed="rId3">
            <a:alphaModFix/>
          </a:blip>
          <a:srcRect b="0" l="0" r="0" t="0"/>
          <a:stretch/>
        </p:blipFill>
        <p:spPr>
          <a:xfrm>
            <a:off x="4762500" y="5486400"/>
            <a:ext cx="203200" cy="203200"/>
          </a:xfrm>
          <a:prstGeom prst="rect">
            <a:avLst/>
          </a:prstGeom>
          <a:noFill/>
          <a:ln>
            <a:noFill/>
          </a:ln>
        </p:spPr>
      </p:pic>
      <p:sp>
        <p:nvSpPr>
          <p:cNvPr id="144" name="Google Shape;144;p8"/>
          <p:cNvSpPr/>
          <p:nvPr/>
        </p:nvSpPr>
        <p:spPr>
          <a:xfrm>
            <a:off x="2336800" y="5803900"/>
            <a:ext cx="1397000" cy="50800"/>
          </a:xfrm>
          <a:prstGeom prst="roundRect">
            <a:avLst>
              <a:gd fmla="val 50000" name="adj"/>
            </a:avLst>
          </a:prstGeom>
          <a:solidFill>
            <a:srgbClr val="1F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5588000" y="812800"/>
            <a:ext cx="392430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300"/>
              <a:buFont typeface="Nunito"/>
              <a:buNone/>
            </a:pPr>
            <a:r>
              <a:rPr b="1" i="0" lang="en-US" sz="1300" u="none" cap="none" strike="noStrike">
                <a:solidFill>
                  <a:srgbClr val="596475"/>
                </a:solidFill>
                <a:latin typeface="Nunito"/>
                <a:ea typeface="Nunito"/>
                <a:cs typeface="Nunito"/>
                <a:sym typeface="Nunito"/>
              </a:rPr>
              <a:t>EXAMPLE</a:t>
            </a:r>
            <a:endParaRPr b="0" i="0" sz="1300" u="none" cap="none" strike="noStrike">
              <a:solidFill>
                <a:schemeClr val="dk1"/>
              </a:solidFill>
              <a:latin typeface="Calibri"/>
              <a:ea typeface="Calibri"/>
              <a:cs typeface="Calibri"/>
              <a:sym typeface="Calibri"/>
            </a:endParaRPr>
          </a:p>
        </p:txBody>
      </p:sp>
      <p:sp>
        <p:nvSpPr>
          <p:cNvPr id="146" name="Google Shape;146;p8"/>
          <p:cNvSpPr/>
          <p:nvPr/>
        </p:nvSpPr>
        <p:spPr>
          <a:xfrm>
            <a:off x="5588000" y="1117600"/>
            <a:ext cx="5964936"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2232"/>
              </a:buClr>
              <a:buSzPts val="3600"/>
              <a:buFont typeface="Fredoka"/>
              <a:buNone/>
            </a:pPr>
            <a:r>
              <a:rPr b="1" i="0" lang="en-US" sz="3600" u="none" cap="none" strike="noStrike">
                <a:solidFill>
                  <a:srgbClr val="1F2232"/>
                </a:solidFill>
                <a:latin typeface="Fredoka"/>
                <a:ea typeface="Fredoka"/>
                <a:cs typeface="Fredoka"/>
                <a:sym typeface="Fredoka"/>
              </a:rPr>
              <a:t>One errand, start to finish</a:t>
            </a:r>
            <a:endParaRPr b="0" i="0" sz="3600" u="none" cap="none" strike="noStrike">
              <a:solidFill>
                <a:schemeClr val="dk1"/>
              </a:solidFill>
              <a:latin typeface="Calibri"/>
              <a:ea typeface="Calibri"/>
              <a:cs typeface="Calibri"/>
              <a:sym typeface="Calibri"/>
            </a:endParaRPr>
          </a:p>
        </p:txBody>
      </p:sp>
      <p:sp>
        <p:nvSpPr>
          <p:cNvPr id="147" name="Google Shape;147;p8"/>
          <p:cNvSpPr/>
          <p:nvPr/>
        </p:nvSpPr>
        <p:spPr>
          <a:xfrm>
            <a:off x="5594350" y="2419350"/>
            <a:ext cx="5778500" cy="749300"/>
          </a:xfrm>
          <a:prstGeom prst="roundRect">
            <a:avLst>
              <a:gd fmla="val 33051" name="adj"/>
            </a:avLst>
          </a:prstGeom>
          <a:solidFill>
            <a:srgbClr val="FFFCFC"/>
          </a:solidFill>
          <a:ln cap="flat" cmpd="sng" w="12700">
            <a:solidFill>
              <a:srgbClr val="F3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5803900" y="2590800"/>
            <a:ext cx="406500" cy="40650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1600"/>
              <a:buFont typeface="Fredoka"/>
              <a:buNone/>
            </a:pPr>
            <a:r>
              <a:rPr b="1" i="0" lang="en-US" sz="1600" u="none" cap="none" strike="noStrike">
                <a:solidFill>
                  <a:srgbClr val="1F2232"/>
                </a:solidFill>
                <a:latin typeface="Fredoka"/>
                <a:ea typeface="Fredoka"/>
                <a:cs typeface="Fredoka"/>
                <a:sym typeface="Fredoka"/>
              </a:rPr>
              <a:t>1</a:t>
            </a:r>
            <a:endParaRPr b="0" i="0" sz="1600" u="none" cap="none" strike="noStrike">
              <a:solidFill>
                <a:schemeClr val="dk1"/>
              </a:solidFill>
              <a:latin typeface="Calibri"/>
              <a:ea typeface="Calibri"/>
              <a:cs typeface="Calibri"/>
              <a:sym typeface="Calibri"/>
            </a:endParaRPr>
          </a:p>
        </p:txBody>
      </p:sp>
      <p:sp>
        <p:nvSpPr>
          <p:cNvPr id="149" name="Google Shape;149;p8"/>
          <p:cNvSpPr/>
          <p:nvPr/>
        </p:nvSpPr>
        <p:spPr>
          <a:xfrm>
            <a:off x="6362700" y="2504430"/>
            <a:ext cx="4944618"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2"/>
              </a:buClr>
              <a:buSzPts val="2000"/>
              <a:buFont typeface="Fredoka"/>
              <a:buNone/>
            </a:pPr>
            <a:r>
              <a:rPr b="1" i="0" lang="en-US" sz="2000" u="none" cap="none" strike="noStrike">
                <a:solidFill>
                  <a:srgbClr val="1F2232"/>
                </a:solidFill>
                <a:latin typeface="Fredoka"/>
                <a:ea typeface="Fredoka"/>
                <a:cs typeface="Fredoka"/>
                <a:sym typeface="Fredoka"/>
              </a:rPr>
              <a:t>AI first</a:t>
            </a:r>
            <a:endParaRPr b="0" i="0" sz="2000" u="none" cap="none" strike="noStrike">
              <a:solidFill>
                <a:schemeClr val="dk1"/>
              </a:solidFill>
              <a:latin typeface="Calibri"/>
              <a:ea typeface="Calibri"/>
              <a:cs typeface="Calibri"/>
              <a:sym typeface="Calibri"/>
            </a:endParaRPr>
          </a:p>
        </p:txBody>
      </p:sp>
      <p:sp>
        <p:nvSpPr>
          <p:cNvPr id="150" name="Google Shape;150;p8"/>
          <p:cNvSpPr/>
          <p:nvPr/>
        </p:nvSpPr>
        <p:spPr>
          <a:xfrm>
            <a:off x="6362700" y="2834630"/>
            <a:ext cx="4944618"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400"/>
              <a:buFont typeface="Nunito"/>
              <a:buNone/>
            </a:pPr>
            <a:r>
              <a:rPr b="0" i="0" lang="en-US" sz="1400" u="none" cap="none" strike="noStrike">
                <a:solidFill>
                  <a:srgbClr val="596475"/>
                </a:solidFill>
                <a:latin typeface="Nunito"/>
                <a:ea typeface="Nunito"/>
                <a:cs typeface="Nunito"/>
                <a:sym typeface="Nunito"/>
              </a:rPr>
              <a:t>A bot cannot stand in a line.</a:t>
            </a:r>
            <a:endParaRPr b="0" i="0" sz="1400" u="none" cap="none" strike="noStrike">
              <a:solidFill>
                <a:schemeClr val="dk1"/>
              </a:solidFill>
              <a:latin typeface="Calibri"/>
              <a:ea typeface="Calibri"/>
              <a:cs typeface="Calibri"/>
              <a:sym typeface="Calibri"/>
            </a:endParaRPr>
          </a:p>
        </p:txBody>
      </p:sp>
      <p:sp>
        <p:nvSpPr>
          <p:cNvPr id="151" name="Google Shape;151;p8"/>
          <p:cNvSpPr/>
          <p:nvPr/>
        </p:nvSpPr>
        <p:spPr>
          <a:xfrm>
            <a:off x="5594350" y="3282950"/>
            <a:ext cx="5778500" cy="749300"/>
          </a:xfrm>
          <a:prstGeom prst="roundRect">
            <a:avLst>
              <a:gd fmla="val 33051" name="adj"/>
            </a:avLst>
          </a:prstGeom>
          <a:solidFill>
            <a:srgbClr val="FFFCFC"/>
          </a:solidFill>
          <a:ln cap="flat" cmpd="sng" w="12700">
            <a:solidFill>
              <a:srgbClr val="F3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5803900" y="3454400"/>
            <a:ext cx="406400" cy="40640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1600"/>
              <a:buFont typeface="Fredoka"/>
              <a:buNone/>
            </a:pPr>
            <a:r>
              <a:rPr b="1" i="0" lang="en-US" sz="1600" u="none" cap="none" strike="noStrike">
                <a:solidFill>
                  <a:srgbClr val="1F2232"/>
                </a:solidFill>
                <a:latin typeface="Fredoka"/>
                <a:ea typeface="Fredoka"/>
                <a:cs typeface="Fredoka"/>
                <a:sym typeface="Fredoka"/>
              </a:rPr>
              <a:t>2</a:t>
            </a:r>
            <a:endParaRPr b="0" i="0" sz="1600" u="none" cap="none" strike="noStrike">
              <a:solidFill>
                <a:schemeClr val="dk1"/>
              </a:solidFill>
              <a:latin typeface="Calibri"/>
              <a:ea typeface="Calibri"/>
              <a:cs typeface="Calibri"/>
              <a:sym typeface="Calibri"/>
            </a:endParaRPr>
          </a:p>
        </p:txBody>
      </p:sp>
      <p:sp>
        <p:nvSpPr>
          <p:cNvPr id="153" name="Google Shape;153;p8"/>
          <p:cNvSpPr/>
          <p:nvPr/>
        </p:nvSpPr>
        <p:spPr>
          <a:xfrm>
            <a:off x="6362700" y="3368030"/>
            <a:ext cx="4944618"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2"/>
              </a:buClr>
              <a:buSzPts val="2000"/>
              <a:buFont typeface="Fredoka"/>
              <a:buNone/>
            </a:pPr>
            <a:r>
              <a:rPr b="1" i="0" lang="en-US" sz="2000" u="none" cap="none" strike="noStrike">
                <a:solidFill>
                  <a:srgbClr val="1F2232"/>
                </a:solidFill>
                <a:latin typeface="Fredoka"/>
                <a:ea typeface="Fredoka"/>
                <a:cs typeface="Fredoka"/>
                <a:sym typeface="Fredoka"/>
              </a:rPr>
              <a:t>Scout</a:t>
            </a:r>
            <a:endParaRPr b="0" i="0" sz="2000" u="none" cap="none" strike="noStrike">
              <a:solidFill>
                <a:schemeClr val="dk1"/>
              </a:solidFill>
              <a:latin typeface="Calibri"/>
              <a:ea typeface="Calibri"/>
              <a:cs typeface="Calibri"/>
              <a:sym typeface="Calibri"/>
            </a:endParaRPr>
          </a:p>
        </p:txBody>
      </p:sp>
      <p:sp>
        <p:nvSpPr>
          <p:cNvPr id="154" name="Google Shape;154;p8"/>
          <p:cNvSpPr/>
          <p:nvPr/>
        </p:nvSpPr>
        <p:spPr>
          <a:xfrm>
            <a:off x="6362700" y="3698230"/>
            <a:ext cx="4944618"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400"/>
              <a:buFont typeface="Nunito"/>
              <a:buNone/>
            </a:pPr>
            <a:r>
              <a:rPr b="0" i="0" lang="en-US" sz="1400" u="none" cap="none" strike="noStrike">
                <a:solidFill>
                  <a:srgbClr val="596475"/>
                </a:solidFill>
                <a:latin typeface="Nunito"/>
                <a:ea typeface="Nunito"/>
                <a:cs typeface="Nunito"/>
                <a:sym typeface="Nunito"/>
              </a:rPr>
              <a:t>Finds a verified waiter near the DMV.</a:t>
            </a:r>
            <a:endParaRPr b="0" i="0" sz="1400" u="none" cap="none" strike="noStrike">
              <a:solidFill>
                <a:schemeClr val="dk1"/>
              </a:solidFill>
              <a:latin typeface="Calibri"/>
              <a:ea typeface="Calibri"/>
              <a:cs typeface="Calibri"/>
              <a:sym typeface="Calibri"/>
            </a:endParaRPr>
          </a:p>
        </p:txBody>
      </p:sp>
      <p:sp>
        <p:nvSpPr>
          <p:cNvPr id="155" name="Google Shape;155;p8"/>
          <p:cNvSpPr/>
          <p:nvPr/>
        </p:nvSpPr>
        <p:spPr>
          <a:xfrm>
            <a:off x="5594350" y="4146550"/>
            <a:ext cx="5778500" cy="749300"/>
          </a:xfrm>
          <a:prstGeom prst="roundRect">
            <a:avLst>
              <a:gd fmla="val 33051" name="adj"/>
            </a:avLst>
          </a:prstGeom>
          <a:solidFill>
            <a:srgbClr val="FFFCFC"/>
          </a:solidFill>
          <a:ln cap="flat" cmpd="sng" w="12700">
            <a:solidFill>
              <a:srgbClr val="F3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5803900" y="4318000"/>
            <a:ext cx="406400" cy="40640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1600"/>
              <a:buFont typeface="Fredoka"/>
              <a:buNone/>
            </a:pPr>
            <a:r>
              <a:rPr b="1" i="0" lang="en-US" sz="1600" u="none" cap="none" strike="noStrike">
                <a:solidFill>
                  <a:srgbClr val="1F2232"/>
                </a:solidFill>
                <a:latin typeface="Fredoka"/>
                <a:ea typeface="Fredoka"/>
                <a:cs typeface="Fredoka"/>
                <a:sym typeface="Fredoka"/>
              </a:rPr>
              <a:t>3</a:t>
            </a:r>
            <a:endParaRPr b="0" i="0" sz="1600" u="none" cap="none" strike="noStrike">
              <a:solidFill>
                <a:schemeClr val="dk1"/>
              </a:solidFill>
              <a:latin typeface="Calibri"/>
              <a:ea typeface="Calibri"/>
              <a:cs typeface="Calibri"/>
              <a:sym typeface="Calibri"/>
            </a:endParaRPr>
          </a:p>
        </p:txBody>
      </p:sp>
      <p:sp>
        <p:nvSpPr>
          <p:cNvPr id="157" name="Google Shape;157;p8"/>
          <p:cNvSpPr/>
          <p:nvPr/>
        </p:nvSpPr>
        <p:spPr>
          <a:xfrm>
            <a:off x="6362700" y="4231630"/>
            <a:ext cx="4944618"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2"/>
              </a:buClr>
              <a:buSzPts val="2000"/>
              <a:buFont typeface="Fredoka"/>
              <a:buNone/>
            </a:pPr>
            <a:r>
              <a:rPr b="1" i="0" lang="en-US" sz="2000" u="none" cap="none" strike="noStrike">
                <a:solidFill>
                  <a:srgbClr val="1F2232"/>
                </a:solidFill>
                <a:latin typeface="Fredoka"/>
                <a:ea typeface="Fredoka"/>
                <a:cs typeface="Fredoka"/>
                <a:sym typeface="Fredoka"/>
              </a:rPr>
              <a:t>Escrow</a:t>
            </a:r>
            <a:endParaRPr b="0" i="0" sz="2000" u="none" cap="none" strike="noStrike">
              <a:solidFill>
                <a:schemeClr val="dk1"/>
              </a:solidFill>
              <a:latin typeface="Calibri"/>
              <a:ea typeface="Calibri"/>
              <a:cs typeface="Calibri"/>
              <a:sym typeface="Calibri"/>
            </a:endParaRPr>
          </a:p>
        </p:txBody>
      </p:sp>
      <p:sp>
        <p:nvSpPr>
          <p:cNvPr id="158" name="Google Shape;158;p8"/>
          <p:cNvSpPr/>
          <p:nvPr/>
        </p:nvSpPr>
        <p:spPr>
          <a:xfrm>
            <a:off x="6362700" y="4561830"/>
            <a:ext cx="4944618"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400"/>
              <a:buFont typeface="Nunito"/>
              <a:buNone/>
            </a:pPr>
            <a:r>
              <a:rPr b="0" i="0" lang="en-US" sz="1400" u="none" cap="none" strike="noStrike">
                <a:solidFill>
                  <a:srgbClr val="596475"/>
                </a:solidFill>
                <a:latin typeface="Nunito"/>
                <a:ea typeface="Nunito"/>
                <a:cs typeface="Nunito"/>
                <a:sym typeface="Nunito"/>
              </a:rPr>
              <a:t>$50 locks: $25 an hour, up to 2 hours.</a:t>
            </a:r>
            <a:endParaRPr b="0" i="0" sz="1400" u="none" cap="none" strike="noStrike">
              <a:solidFill>
                <a:schemeClr val="dk1"/>
              </a:solidFill>
              <a:latin typeface="Calibri"/>
              <a:ea typeface="Calibri"/>
              <a:cs typeface="Calibri"/>
              <a:sym typeface="Calibri"/>
            </a:endParaRPr>
          </a:p>
        </p:txBody>
      </p:sp>
      <p:sp>
        <p:nvSpPr>
          <p:cNvPr id="159" name="Google Shape;159;p8"/>
          <p:cNvSpPr/>
          <p:nvPr/>
        </p:nvSpPr>
        <p:spPr>
          <a:xfrm>
            <a:off x="5594350" y="5010150"/>
            <a:ext cx="5778500" cy="749300"/>
          </a:xfrm>
          <a:prstGeom prst="roundRect">
            <a:avLst>
              <a:gd fmla="val 33051" name="adj"/>
            </a:avLst>
          </a:prstGeom>
          <a:solidFill>
            <a:srgbClr val="FFFCFC"/>
          </a:solidFill>
          <a:ln cap="flat" cmpd="sng" w="12700">
            <a:solidFill>
              <a:srgbClr val="F3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5803900" y="5181600"/>
            <a:ext cx="406400" cy="40640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1600"/>
              <a:buFont typeface="Fredoka"/>
              <a:buNone/>
            </a:pPr>
            <a:r>
              <a:rPr b="1" i="0" lang="en-US" sz="1600" u="none" cap="none" strike="noStrike">
                <a:solidFill>
                  <a:srgbClr val="1F2232"/>
                </a:solidFill>
                <a:latin typeface="Fredoka"/>
                <a:ea typeface="Fredoka"/>
                <a:cs typeface="Fredoka"/>
                <a:sym typeface="Fredoka"/>
              </a:rPr>
              <a:t>4</a:t>
            </a:r>
            <a:endParaRPr b="0" i="0" sz="1600" u="none" cap="none" strike="noStrike">
              <a:solidFill>
                <a:schemeClr val="dk1"/>
              </a:solidFill>
              <a:latin typeface="Calibri"/>
              <a:ea typeface="Calibri"/>
              <a:cs typeface="Calibri"/>
              <a:sym typeface="Calibri"/>
            </a:endParaRPr>
          </a:p>
        </p:txBody>
      </p:sp>
      <p:sp>
        <p:nvSpPr>
          <p:cNvPr id="161" name="Google Shape;161;p8"/>
          <p:cNvSpPr/>
          <p:nvPr/>
        </p:nvSpPr>
        <p:spPr>
          <a:xfrm>
            <a:off x="6362700" y="5095230"/>
            <a:ext cx="4944618"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2"/>
              </a:buClr>
              <a:buSzPts val="2000"/>
              <a:buFont typeface="Fredoka"/>
              <a:buNone/>
            </a:pPr>
            <a:r>
              <a:rPr b="1" i="0" lang="en-US" sz="2000" u="none" cap="none" strike="noStrike">
                <a:solidFill>
                  <a:srgbClr val="1F2232"/>
                </a:solidFill>
                <a:latin typeface="Fredoka"/>
                <a:ea typeface="Fredoka"/>
                <a:cs typeface="Fredoka"/>
                <a:sym typeface="Fredoka"/>
              </a:rPr>
              <a:t>Verifier and payout</a:t>
            </a:r>
            <a:endParaRPr b="0" i="0" sz="2000" u="none" cap="none" strike="noStrike">
              <a:solidFill>
                <a:schemeClr val="dk1"/>
              </a:solidFill>
              <a:latin typeface="Calibri"/>
              <a:ea typeface="Calibri"/>
              <a:cs typeface="Calibri"/>
              <a:sym typeface="Calibri"/>
            </a:endParaRPr>
          </a:p>
        </p:txBody>
      </p:sp>
      <p:sp>
        <p:nvSpPr>
          <p:cNvPr id="162" name="Google Shape;162;p8"/>
          <p:cNvSpPr/>
          <p:nvPr/>
        </p:nvSpPr>
        <p:spPr>
          <a:xfrm>
            <a:off x="6362700" y="5425430"/>
            <a:ext cx="4944618"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400"/>
              <a:buFont typeface="Nunito"/>
              <a:buNone/>
            </a:pPr>
            <a:r>
              <a:rPr b="0" i="0" lang="en-US" sz="1400" u="none" cap="none" strike="noStrike">
                <a:solidFill>
                  <a:srgbClr val="596475"/>
                </a:solidFill>
                <a:latin typeface="Nunito"/>
                <a:ea typeface="Nunito"/>
                <a:cs typeface="Nunito"/>
                <a:sym typeface="Nunito"/>
              </a:rPr>
              <a:t>Live photos check in. Paid by the minute.</a:t>
            </a:r>
            <a:endParaRPr b="0" i="0" sz="1400" u="none" cap="none" strike="noStrike">
              <a:solidFill>
                <a:schemeClr val="dk1"/>
              </a:solidFill>
              <a:latin typeface="Calibri"/>
              <a:ea typeface="Calibri"/>
              <a:cs typeface="Calibri"/>
              <a:sym typeface="Calibri"/>
            </a:endParaRPr>
          </a:p>
        </p:txBody>
      </p:sp>
      <p:pic>
        <p:nvPicPr>
          <p:cNvPr id="163" name="Google Shape;163;p8" title="haas-hand-smile.png"/>
          <p:cNvPicPr preferRelativeResize="0"/>
          <p:nvPr/>
        </p:nvPicPr>
        <p:blipFill>
          <a:blip r:embed="rId4">
            <a:alphaModFix/>
          </a:blip>
          <a:stretch>
            <a:fillRect/>
          </a:stretch>
        </p:blipFill>
        <p:spPr>
          <a:xfrm>
            <a:off x="1085850" y="1352550"/>
            <a:ext cx="647700" cy="647700"/>
          </a:xfrm>
          <a:prstGeom prst="rect">
            <a:avLst/>
          </a:prstGeom>
          <a:noFill/>
          <a:ln>
            <a:noFill/>
          </a:ln>
        </p:spPr>
      </p:pic>
      <p:pic>
        <p:nvPicPr>
          <p:cNvPr id="164" name="Google Shape;164;p8" title="haas-hand-smile.png"/>
          <p:cNvPicPr preferRelativeResize="0"/>
          <p:nvPr/>
        </p:nvPicPr>
        <p:blipFill>
          <a:blip r:embed="rId4">
            <a:alphaModFix/>
          </a:blip>
          <a:stretch>
            <a:fillRect/>
          </a:stretch>
        </p:blipFill>
        <p:spPr>
          <a:xfrm>
            <a:off x="1032925" y="3467100"/>
            <a:ext cx="406399" cy="406399"/>
          </a:xfrm>
          <a:prstGeom prst="rect">
            <a:avLst/>
          </a:prstGeom>
          <a:noFill/>
          <a:ln>
            <a:noFill/>
          </a:ln>
        </p:spPr>
      </p:pic>
      <p:pic>
        <p:nvPicPr>
          <p:cNvPr id="165" name="Google Shape;165;p8" title="haas-hand-smile.png"/>
          <p:cNvPicPr preferRelativeResize="0"/>
          <p:nvPr/>
        </p:nvPicPr>
        <p:blipFill>
          <a:blip r:embed="rId4">
            <a:alphaModFix/>
          </a:blip>
          <a:stretch>
            <a:fillRect/>
          </a:stretch>
        </p:blipFill>
        <p:spPr>
          <a:xfrm>
            <a:off x="1032925" y="4946650"/>
            <a:ext cx="406399" cy="4063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E8E9"/>
        </a:solidFill>
      </p:bgPr>
    </p:bg>
    <p:spTree>
      <p:nvGrpSpPr>
        <p:cNvPr id="170" name="Shape 170"/>
        <p:cNvGrpSpPr/>
        <p:nvPr/>
      </p:nvGrpSpPr>
      <p:grpSpPr>
        <a:xfrm>
          <a:off x="0" y="0"/>
          <a:ext cx="0" cy="0"/>
          <a:chOff x="0" y="0"/>
          <a:chExt cx="0" cy="0"/>
        </a:xfrm>
      </p:grpSpPr>
      <p:sp>
        <p:nvSpPr>
          <p:cNvPr id="171" name="Google Shape;171;p9"/>
          <p:cNvSpPr/>
          <p:nvPr/>
        </p:nvSpPr>
        <p:spPr>
          <a:xfrm>
            <a:off x="812800" y="812800"/>
            <a:ext cx="2302788"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300"/>
              <a:buFont typeface="Nunito"/>
              <a:buNone/>
            </a:pPr>
            <a:r>
              <a:rPr b="1" i="0" lang="en-US" sz="1300" u="none" cap="none" strike="noStrike">
                <a:solidFill>
                  <a:srgbClr val="596475"/>
                </a:solidFill>
                <a:latin typeface="Nunito"/>
                <a:ea typeface="Nunito"/>
                <a:cs typeface="Nunito"/>
                <a:sym typeface="Nunito"/>
              </a:rPr>
              <a:t>TECHNICAL APPROACH</a:t>
            </a:r>
            <a:endParaRPr b="0" i="0" sz="1300" u="none" cap="none" strike="noStrike">
              <a:solidFill>
                <a:schemeClr val="dk1"/>
              </a:solidFill>
              <a:latin typeface="Calibri"/>
              <a:ea typeface="Calibri"/>
              <a:cs typeface="Calibri"/>
              <a:sym typeface="Calibri"/>
            </a:endParaRPr>
          </a:p>
        </p:txBody>
      </p:sp>
      <p:sp>
        <p:nvSpPr>
          <p:cNvPr id="172" name="Google Shape;172;p9"/>
          <p:cNvSpPr/>
          <p:nvPr/>
        </p:nvSpPr>
        <p:spPr>
          <a:xfrm>
            <a:off x="812800" y="1221730"/>
            <a:ext cx="10883392"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2232"/>
              </a:buClr>
              <a:buSzPts val="4000"/>
              <a:buFont typeface="Fredoka"/>
              <a:buNone/>
            </a:pPr>
            <a:r>
              <a:rPr b="1" i="0" lang="en-US" sz="4000" u="none" cap="none" strike="noStrike">
                <a:solidFill>
                  <a:srgbClr val="1F2232"/>
                </a:solidFill>
                <a:latin typeface="Fredoka"/>
                <a:ea typeface="Fredoka"/>
                <a:cs typeface="Fredoka"/>
                <a:sym typeface="Fredoka"/>
              </a:rPr>
              <a:t>Four layers, the chain is a plug-in</a:t>
            </a:r>
            <a:endParaRPr b="0" i="0" sz="4000" u="none" cap="none" strike="noStrike">
              <a:solidFill>
                <a:schemeClr val="dk1"/>
              </a:solidFill>
              <a:latin typeface="Calibri"/>
              <a:ea typeface="Calibri"/>
              <a:cs typeface="Calibri"/>
              <a:sym typeface="Calibri"/>
            </a:endParaRPr>
          </a:p>
        </p:txBody>
      </p:sp>
      <p:sp>
        <p:nvSpPr>
          <p:cNvPr id="173" name="Google Shape;173;p9"/>
          <p:cNvSpPr/>
          <p:nvPr/>
        </p:nvSpPr>
        <p:spPr>
          <a:xfrm>
            <a:off x="819150" y="2165350"/>
            <a:ext cx="10553700" cy="749300"/>
          </a:xfrm>
          <a:prstGeom prst="roundRect">
            <a:avLst>
              <a:gd fmla="val 39831" name="adj"/>
            </a:avLst>
          </a:prstGeom>
          <a:solidFill>
            <a:srgbClr val="FFFCFC"/>
          </a:solidFill>
          <a:ln cap="flat" cmpd="sng" w="12700">
            <a:solidFill>
              <a:srgbClr val="F3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1104900" y="2235200"/>
            <a:ext cx="8965339" cy="3606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2"/>
              </a:buClr>
              <a:buSzPts val="2200"/>
              <a:buFont typeface="Fredoka"/>
              <a:buNone/>
            </a:pPr>
            <a:r>
              <a:rPr b="1" i="0" lang="en-US" sz="2200" u="none" cap="none" strike="noStrike">
                <a:solidFill>
                  <a:srgbClr val="1F2232"/>
                </a:solidFill>
                <a:latin typeface="Fredoka"/>
                <a:ea typeface="Fredoka"/>
                <a:cs typeface="Fredoka"/>
                <a:sym typeface="Fredoka"/>
              </a:rPr>
              <a:t>Interface</a:t>
            </a:r>
            <a:endParaRPr b="0" i="0" sz="2200" u="none" cap="none" strike="noStrike">
              <a:solidFill>
                <a:schemeClr val="dk1"/>
              </a:solidFill>
              <a:latin typeface="Calibri"/>
              <a:ea typeface="Calibri"/>
              <a:cs typeface="Calibri"/>
              <a:sym typeface="Calibri"/>
            </a:endParaRPr>
          </a:p>
        </p:txBody>
      </p:sp>
      <p:sp>
        <p:nvSpPr>
          <p:cNvPr id="175" name="Google Shape;175;p9"/>
          <p:cNvSpPr/>
          <p:nvPr/>
        </p:nvSpPr>
        <p:spPr>
          <a:xfrm>
            <a:off x="1104900" y="2595860"/>
            <a:ext cx="8965339"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400"/>
              <a:buFont typeface="Nunito"/>
              <a:buNone/>
            </a:pPr>
            <a:r>
              <a:rPr b="0" i="0" lang="en-US" sz="1400" u="none" cap="none" strike="noStrike">
                <a:solidFill>
                  <a:srgbClr val="596475"/>
                </a:solidFill>
                <a:latin typeface="Nunito"/>
                <a:ea typeface="Nunito"/>
                <a:cs typeface="Nunito"/>
                <a:sym typeface="Nunito"/>
              </a:rPr>
              <a:t>Telegram bot and web dashboard</a:t>
            </a:r>
            <a:endParaRPr b="0" i="0" sz="1400" u="none" cap="none" strike="noStrike">
              <a:solidFill>
                <a:schemeClr val="dk1"/>
              </a:solidFill>
              <a:latin typeface="Calibri"/>
              <a:ea typeface="Calibri"/>
              <a:cs typeface="Calibri"/>
              <a:sym typeface="Calibri"/>
            </a:endParaRPr>
          </a:p>
        </p:txBody>
      </p:sp>
      <p:sp>
        <p:nvSpPr>
          <p:cNvPr id="176" name="Google Shape;176;p9"/>
          <p:cNvSpPr/>
          <p:nvPr/>
        </p:nvSpPr>
        <p:spPr>
          <a:xfrm>
            <a:off x="10012313" y="2360910"/>
            <a:ext cx="1074787" cy="358130"/>
          </a:xfrm>
          <a:prstGeom prst="roundRect">
            <a:avLst>
              <a:gd fmla="val 50000" name="adj"/>
            </a:avLst>
          </a:prstGeom>
          <a:solidFill>
            <a:srgbClr val="FDE8E9"/>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1300"/>
              <a:buFont typeface="Nunito"/>
              <a:buNone/>
            </a:pPr>
            <a:r>
              <a:rPr b="1" i="0" lang="en-US" sz="1300" u="none" cap="none" strike="noStrike">
                <a:solidFill>
                  <a:srgbClr val="1F2232"/>
                </a:solidFill>
                <a:latin typeface="Nunito"/>
                <a:ea typeface="Nunito"/>
                <a:cs typeface="Nunito"/>
                <a:sym typeface="Nunito"/>
              </a:rPr>
              <a:t>Telegram</a:t>
            </a:r>
            <a:endParaRPr b="0" i="0" sz="1300" u="none" cap="none" strike="noStrike">
              <a:solidFill>
                <a:schemeClr val="dk1"/>
              </a:solidFill>
              <a:latin typeface="Calibri"/>
              <a:ea typeface="Calibri"/>
              <a:cs typeface="Calibri"/>
              <a:sym typeface="Calibri"/>
            </a:endParaRPr>
          </a:p>
        </p:txBody>
      </p:sp>
      <p:sp>
        <p:nvSpPr>
          <p:cNvPr id="177" name="Google Shape;177;p9"/>
          <p:cNvSpPr/>
          <p:nvPr/>
        </p:nvSpPr>
        <p:spPr>
          <a:xfrm>
            <a:off x="819150" y="3054350"/>
            <a:ext cx="10553700" cy="749300"/>
          </a:xfrm>
          <a:prstGeom prst="roundRect">
            <a:avLst>
              <a:gd fmla="val 39831" name="adj"/>
            </a:avLst>
          </a:prstGeom>
          <a:solidFill>
            <a:srgbClr val="FFFCFC"/>
          </a:solidFill>
          <a:ln cap="flat" cmpd="sng" w="12700">
            <a:solidFill>
              <a:srgbClr val="F3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
          <p:cNvSpPr/>
          <p:nvPr/>
        </p:nvSpPr>
        <p:spPr>
          <a:xfrm>
            <a:off x="1104900" y="3124200"/>
            <a:ext cx="8542557" cy="3606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2"/>
              </a:buClr>
              <a:buSzPts val="2200"/>
              <a:buFont typeface="Fredoka"/>
              <a:buNone/>
            </a:pPr>
            <a:r>
              <a:rPr b="1" i="0" lang="en-US" sz="2200" u="none" cap="none" strike="noStrike">
                <a:solidFill>
                  <a:srgbClr val="1F2232"/>
                </a:solidFill>
                <a:latin typeface="Fredoka"/>
                <a:ea typeface="Fredoka"/>
                <a:cs typeface="Fredoka"/>
                <a:sym typeface="Fredoka"/>
              </a:rPr>
              <a:t>Scout agent</a:t>
            </a:r>
            <a:endParaRPr b="0" i="0" sz="2200" u="none" cap="none" strike="noStrike">
              <a:solidFill>
                <a:schemeClr val="dk1"/>
              </a:solidFill>
              <a:latin typeface="Calibri"/>
              <a:ea typeface="Calibri"/>
              <a:cs typeface="Calibri"/>
              <a:sym typeface="Calibri"/>
            </a:endParaRPr>
          </a:p>
        </p:txBody>
      </p:sp>
      <p:sp>
        <p:nvSpPr>
          <p:cNvPr id="179" name="Google Shape;179;p9"/>
          <p:cNvSpPr/>
          <p:nvPr/>
        </p:nvSpPr>
        <p:spPr>
          <a:xfrm>
            <a:off x="1104900" y="3484860"/>
            <a:ext cx="8542557"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400"/>
              <a:buFont typeface="Nunito"/>
              <a:buNone/>
            </a:pPr>
            <a:r>
              <a:rPr b="0" i="0" lang="en-US" sz="1400" u="none" cap="none" strike="noStrike">
                <a:solidFill>
                  <a:srgbClr val="596475"/>
                </a:solidFill>
                <a:latin typeface="Nunito"/>
                <a:ea typeface="Nunito"/>
                <a:cs typeface="Nunito"/>
                <a:sym typeface="Nunito"/>
              </a:rPr>
              <a:t>Searches and contacts across Fiverr, TaskRabbit, Prolific, bounties</a:t>
            </a:r>
            <a:endParaRPr b="0" i="0" sz="1400" u="none" cap="none" strike="noStrike">
              <a:solidFill>
                <a:schemeClr val="dk1"/>
              </a:solidFill>
              <a:latin typeface="Calibri"/>
              <a:ea typeface="Calibri"/>
              <a:cs typeface="Calibri"/>
              <a:sym typeface="Calibri"/>
            </a:endParaRPr>
          </a:p>
        </p:txBody>
      </p:sp>
      <p:sp>
        <p:nvSpPr>
          <p:cNvPr id="180" name="Google Shape;180;p9"/>
          <p:cNvSpPr/>
          <p:nvPr/>
        </p:nvSpPr>
        <p:spPr>
          <a:xfrm>
            <a:off x="9601845" y="3249910"/>
            <a:ext cx="1485255" cy="358130"/>
          </a:xfrm>
          <a:prstGeom prst="roundRect">
            <a:avLst>
              <a:gd fmla="val 50000" name="adj"/>
            </a:avLst>
          </a:prstGeom>
          <a:solidFill>
            <a:srgbClr val="FDE8E9"/>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1300"/>
              <a:buFont typeface="Nunito"/>
              <a:buNone/>
            </a:pPr>
            <a:r>
              <a:rPr b="1" i="0" lang="en-US" sz="1300" u="none" cap="none" strike="noStrike">
                <a:solidFill>
                  <a:srgbClr val="1F2232"/>
                </a:solidFill>
                <a:latin typeface="Nunito"/>
                <a:ea typeface="Nunito"/>
                <a:cs typeface="Nunito"/>
                <a:sym typeface="Nunito"/>
              </a:rPr>
              <a:t>Chain agnostic</a:t>
            </a:r>
            <a:endParaRPr b="0" i="0" sz="1300" u="none" cap="none" strike="noStrike">
              <a:solidFill>
                <a:schemeClr val="dk1"/>
              </a:solidFill>
              <a:latin typeface="Calibri"/>
              <a:ea typeface="Calibri"/>
              <a:cs typeface="Calibri"/>
              <a:sym typeface="Calibri"/>
            </a:endParaRPr>
          </a:p>
        </p:txBody>
      </p:sp>
      <p:sp>
        <p:nvSpPr>
          <p:cNvPr id="181" name="Google Shape;181;p9"/>
          <p:cNvSpPr/>
          <p:nvPr/>
        </p:nvSpPr>
        <p:spPr>
          <a:xfrm>
            <a:off x="819150" y="3943350"/>
            <a:ext cx="10553700" cy="749300"/>
          </a:xfrm>
          <a:prstGeom prst="roundRect">
            <a:avLst>
              <a:gd fmla="val 39831" name="adj"/>
            </a:avLst>
          </a:prstGeom>
          <a:solidFill>
            <a:srgbClr val="FFFCFC"/>
          </a:solidFill>
          <a:ln cap="flat" cmpd="sng" w="12700">
            <a:solidFill>
              <a:srgbClr val="F3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a:off x="1104900" y="4013200"/>
            <a:ext cx="8583742" cy="3606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2"/>
              </a:buClr>
              <a:buSzPts val="2200"/>
              <a:buFont typeface="Fredoka"/>
              <a:buNone/>
            </a:pPr>
            <a:r>
              <a:rPr b="1" i="0" lang="en-US" sz="2200" u="none" cap="none" strike="noStrike">
                <a:solidFill>
                  <a:srgbClr val="1F2232"/>
                </a:solidFill>
                <a:latin typeface="Fredoka"/>
                <a:ea typeface="Fredoka"/>
                <a:cs typeface="Fredoka"/>
                <a:sym typeface="Fredoka"/>
              </a:rPr>
              <a:t>Trust</a:t>
            </a:r>
            <a:endParaRPr b="0" i="0" sz="2200" u="none" cap="none" strike="noStrike">
              <a:solidFill>
                <a:schemeClr val="dk1"/>
              </a:solidFill>
              <a:latin typeface="Calibri"/>
              <a:ea typeface="Calibri"/>
              <a:cs typeface="Calibri"/>
              <a:sym typeface="Calibri"/>
            </a:endParaRPr>
          </a:p>
        </p:txBody>
      </p:sp>
      <p:sp>
        <p:nvSpPr>
          <p:cNvPr id="183" name="Google Shape;183;p9"/>
          <p:cNvSpPr/>
          <p:nvPr/>
        </p:nvSpPr>
        <p:spPr>
          <a:xfrm>
            <a:off x="1104900" y="4373860"/>
            <a:ext cx="858374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400"/>
              <a:buFont typeface="Nunito"/>
              <a:buNone/>
            </a:pPr>
            <a:r>
              <a:rPr b="0" i="0" lang="en-US" sz="1400" u="none" cap="none" strike="noStrike">
                <a:solidFill>
                  <a:srgbClr val="596475"/>
                </a:solidFill>
                <a:latin typeface="Nunito"/>
                <a:ea typeface="Nunito"/>
                <a:cs typeface="Nunito"/>
                <a:sym typeface="Nunito"/>
              </a:rPr>
              <a:t>Masumi escrow, Veridian worker credential, LLM verifier</a:t>
            </a:r>
            <a:endParaRPr b="0" i="0" sz="1400" u="none" cap="none" strike="noStrike">
              <a:solidFill>
                <a:schemeClr val="dk1"/>
              </a:solidFill>
              <a:latin typeface="Calibri"/>
              <a:ea typeface="Calibri"/>
              <a:cs typeface="Calibri"/>
              <a:sym typeface="Calibri"/>
            </a:endParaRPr>
          </a:p>
        </p:txBody>
      </p:sp>
      <p:sp>
        <p:nvSpPr>
          <p:cNvPr id="184" name="Google Shape;184;p9"/>
          <p:cNvSpPr/>
          <p:nvPr/>
        </p:nvSpPr>
        <p:spPr>
          <a:xfrm>
            <a:off x="9641830" y="4138910"/>
            <a:ext cx="1445270" cy="358130"/>
          </a:xfrm>
          <a:prstGeom prst="roundRect">
            <a:avLst>
              <a:gd fmla="val 50000" name="adj"/>
            </a:avLst>
          </a:prstGeom>
          <a:solidFill>
            <a:srgbClr val="FFF1BF"/>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5C4300"/>
              </a:buClr>
              <a:buSzPts val="1300"/>
              <a:buFont typeface="DM Mono"/>
              <a:buNone/>
            </a:pPr>
            <a:r>
              <a:rPr b="0" i="0" lang="en-US" sz="1300" u="none" cap="none" strike="noStrike">
                <a:solidFill>
                  <a:srgbClr val="5C4300"/>
                </a:solidFill>
                <a:latin typeface="DM Mono"/>
                <a:ea typeface="DM Mono"/>
                <a:cs typeface="DM Mono"/>
                <a:sym typeface="DM Mono"/>
              </a:rPr>
              <a:t>rubric hash</a:t>
            </a:r>
            <a:endParaRPr b="0" i="0" sz="1300" u="none" cap="none" strike="noStrike">
              <a:solidFill>
                <a:schemeClr val="dk1"/>
              </a:solidFill>
              <a:latin typeface="Calibri"/>
              <a:ea typeface="Calibri"/>
              <a:cs typeface="Calibri"/>
              <a:sym typeface="Calibri"/>
            </a:endParaRPr>
          </a:p>
        </p:txBody>
      </p:sp>
      <p:sp>
        <p:nvSpPr>
          <p:cNvPr id="185" name="Google Shape;185;p9"/>
          <p:cNvSpPr/>
          <p:nvPr/>
        </p:nvSpPr>
        <p:spPr>
          <a:xfrm>
            <a:off x="819150" y="4832350"/>
            <a:ext cx="10553700" cy="749300"/>
          </a:xfrm>
          <a:prstGeom prst="roundRect">
            <a:avLst>
              <a:gd fmla="val 39831" name="adj"/>
            </a:avLst>
          </a:prstGeom>
          <a:solidFill>
            <a:srgbClr val="FFFCFC"/>
          </a:solidFill>
          <a:ln cap="flat" cmpd="sng" w="12700">
            <a:solidFill>
              <a:srgbClr val="F3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1104900" y="4902200"/>
            <a:ext cx="9307132" cy="3606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2"/>
              </a:buClr>
              <a:buSzPts val="2200"/>
              <a:buFont typeface="Fredoka"/>
              <a:buNone/>
            </a:pPr>
            <a:r>
              <a:rPr b="1" i="0" lang="en-US" sz="2200" u="none" cap="none" strike="noStrike">
                <a:solidFill>
                  <a:srgbClr val="1F2232"/>
                </a:solidFill>
                <a:latin typeface="Fredoka"/>
                <a:ea typeface="Fredoka"/>
                <a:cs typeface="Fredoka"/>
                <a:sym typeface="Fredoka"/>
              </a:rPr>
              <a:t>Payments</a:t>
            </a:r>
            <a:endParaRPr b="0" i="0" sz="2200" u="none" cap="none" strike="noStrike">
              <a:solidFill>
                <a:schemeClr val="dk1"/>
              </a:solidFill>
              <a:latin typeface="Calibri"/>
              <a:ea typeface="Calibri"/>
              <a:cs typeface="Calibri"/>
              <a:sym typeface="Calibri"/>
            </a:endParaRPr>
          </a:p>
        </p:txBody>
      </p:sp>
      <p:sp>
        <p:nvSpPr>
          <p:cNvPr id="187" name="Google Shape;187;p9"/>
          <p:cNvSpPr/>
          <p:nvPr/>
        </p:nvSpPr>
        <p:spPr>
          <a:xfrm>
            <a:off x="1104900" y="5262860"/>
            <a:ext cx="930713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400"/>
              <a:buFont typeface="Nunito"/>
              <a:buNone/>
            </a:pPr>
            <a:r>
              <a:rPr b="0" i="0" lang="en-US" sz="1400" u="none" cap="none" strike="noStrike">
                <a:solidFill>
                  <a:srgbClr val="596475"/>
                </a:solidFill>
                <a:latin typeface="Nunito"/>
                <a:ea typeface="Nunito"/>
                <a:cs typeface="Nunito"/>
                <a:sym typeface="Nunito"/>
              </a:rPr>
              <a:t>x402 with USDM and USDCx on Cardano. Solana USDC by config</a:t>
            </a:r>
            <a:endParaRPr b="0" i="0" sz="1400" u="none" cap="none" strike="noStrike">
              <a:solidFill>
                <a:schemeClr val="dk1"/>
              </a:solidFill>
              <a:latin typeface="Calibri"/>
              <a:ea typeface="Calibri"/>
              <a:cs typeface="Calibri"/>
              <a:sym typeface="Calibri"/>
            </a:endParaRPr>
          </a:p>
        </p:txBody>
      </p:sp>
      <p:sp>
        <p:nvSpPr>
          <p:cNvPr id="188" name="Google Shape;188;p9"/>
          <p:cNvSpPr/>
          <p:nvPr/>
        </p:nvSpPr>
        <p:spPr>
          <a:xfrm>
            <a:off x="10344150" y="5027910"/>
            <a:ext cx="742950" cy="358130"/>
          </a:xfrm>
          <a:prstGeom prst="roundRect">
            <a:avLst>
              <a:gd fmla="val 50000" name="adj"/>
            </a:avLst>
          </a:prstGeom>
          <a:solidFill>
            <a:srgbClr val="FDE8E9"/>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1300"/>
              <a:buFont typeface="Nunito"/>
              <a:buNone/>
            </a:pPr>
            <a:r>
              <a:rPr b="1" i="0" lang="en-US" sz="1300" u="none" cap="none" strike="noStrike">
                <a:solidFill>
                  <a:srgbClr val="1F2232"/>
                </a:solidFill>
                <a:latin typeface="Nunito"/>
                <a:ea typeface="Nunito"/>
                <a:cs typeface="Nunito"/>
                <a:sym typeface="Nunito"/>
              </a:rPr>
              <a:t>x402</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E8E9"/>
        </a:solidFill>
      </p:bgPr>
    </p:bg>
    <p:spTree>
      <p:nvGrpSpPr>
        <p:cNvPr id="193" name="Shape 193"/>
        <p:cNvGrpSpPr/>
        <p:nvPr/>
      </p:nvGrpSpPr>
      <p:grpSpPr>
        <a:xfrm>
          <a:off x="0" y="0"/>
          <a:ext cx="0" cy="0"/>
          <a:chOff x="0" y="0"/>
          <a:chExt cx="0" cy="0"/>
        </a:xfrm>
      </p:grpSpPr>
      <p:sp>
        <p:nvSpPr>
          <p:cNvPr id="194" name="Google Shape;194;p10"/>
          <p:cNvSpPr/>
          <p:nvPr/>
        </p:nvSpPr>
        <p:spPr>
          <a:xfrm>
            <a:off x="812800" y="812800"/>
            <a:ext cx="10605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96475"/>
              </a:buClr>
              <a:buSzPts val="1300"/>
              <a:buFont typeface="Nunito"/>
              <a:buNone/>
            </a:pPr>
            <a:r>
              <a:rPr b="1" i="0" lang="en-US" sz="1300" u="none" cap="none" strike="noStrike">
                <a:solidFill>
                  <a:srgbClr val="596475"/>
                </a:solidFill>
                <a:latin typeface="Nunito"/>
                <a:ea typeface="Nunito"/>
                <a:cs typeface="Nunito"/>
                <a:sym typeface="Nunito"/>
              </a:rPr>
              <a:t>PAYMENTS</a:t>
            </a:r>
            <a:endParaRPr b="0" i="0" sz="1300" u="none" cap="none" strike="noStrike">
              <a:solidFill>
                <a:schemeClr val="dk1"/>
              </a:solidFill>
              <a:latin typeface="Calibri"/>
              <a:ea typeface="Calibri"/>
              <a:cs typeface="Calibri"/>
              <a:sym typeface="Calibri"/>
            </a:endParaRPr>
          </a:p>
        </p:txBody>
      </p:sp>
      <p:sp>
        <p:nvSpPr>
          <p:cNvPr id="195" name="Google Shape;195;p10"/>
          <p:cNvSpPr/>
          <p:nvPr/>
        </p:nvSpPr>
        <p:spPr>
          <a:xfrm>
            <a:off x="812800" y="1221730"/>
            <a:ext cx="10883400" cy="584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2232"/>
              </a:buClr>
              <a:buSzPts val="4000"/>
              <a:buFont typeface="Fredoka"/>
              <a:buNone/>
            </a:pPr>
            <a:r>
              <a:rPr b="1" i="0" lang="en-US" sz="4000" u="none" cap="none" strike="noStrike">
                <a:solidFill>
                  <a:srgbClr val="1F2232"/>
                </a:solidFill>
                <a:latin typeface="Fredoka"/>
                <a:ea typeface="Fredoka"/>
                <a:cs typeface="Fredoka"/>
                <a:sym typeface="Fredoka"/>
              </a:rPr>
              <a:t>x402 on Cardano and Solana</a:t>
            </a:r>
            <a:endParaRPr b="0" i="0" sz="4000" u="none" cap="none" strike="noStrike">
              <a:solidFill>
                <a:schemeClr val="dk1"/>
              </a:solidFill>
              <a:latin typeface="Calibri"/>
              <a:ea typeface="Calibri"/>
              <a:cs typeface="Calibri"/>
              <a:sym typeface="Calibri"/>
            </a:endParaRPr>
          </a:p>
        </p:txBody>
      </p:sp>
      <p:pic>
        <p:nvPicPr>
          <p:cNvPr descr="line" id="196" name="Google Shape;196;p10"/>
          <p:cNvPicPr preferRelativeResize="0"/>
          <p:nvPr/>
        </p:nvPicPr>
        <p:blipFill rotWithShape="1">
          <a:blip r:embed="rId3">
            <a:alphaModFix/>
          </a:blip>
          <a:srcRect b="0" l="0" r="0" t="0"/>
          <a:stretch/>
        </p:blipFill>
        <p:spPr>
          <a:xfrm>
            <a:off x="2133600" y="2451100"/>
            <a:ext cx="7924803" cy="76200"/>
          </a:xfrm>
          <a:prstGeom prst="rect">
            <a:avLst/>
          </a:prstGeom>
          <a:noFill/>
          <a:ln>
            <a:noFill/>
          </a:ln>
        </p:spPr>
      </p:pic>
      <p:sp>
        <p:nvSpPr>
          <p:cNvPr id="197" name="Google Shape;197;p10"/>
          <p:cNvSpPr/>
          <p:nvPr/>
        </p:nvSpPr>
        <p:spPr>
          <a:xfrm>
            <a:off x="1828800" y="2146300"/>
            <a:ext cx="609600" cy="60960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1</a:t>
            </a:r>
            <a:endParaRPr b="0" i="0" sz="2400" u="none" cap="none" strike="noStrike">
              <a:solidFill>
                <a:schemeClr val="dk1"/>
              </a:solidFill>
              <a:latin typeface="Calibri"/>
              <a:ea typeface="Calibri"/>
              <a:cs typeface="Calibri"/>
              <a:sym typeface="Calibri"/>
            </a:endParaRPr>
          </a:p>
        </p:txBody>
      </p:sp>
      <p:sp>
        <p:nvSpPr>
          <p:cNvPr id="198" name="Google Shape;198;p10"/>
          <p:cNvSpPr/>
          <p:nvPr/>
        </p:nvSpPr>
        <p:spPr>
          <a:xfrm>
            <a:off x="1877556" y="2832100"/>
            <a:ext cx="512100" cy="330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232"/>
              </a:buClr>
              <a:buSzPts val="2000"/>
              <a:buFont typeface="Fredoka"/>
              <a:buNone/>
            </a:pPr>
            <a:r>
              <a:rPr b="1" i="0" lang="en-US" sz="2000" u="none" cap="none" strike="noStrike">
                <a:solidFill>
                  <a:srgbClr val="1F2232"/>
                </a:solidFill>
                <a:latin typeface="Fredoka"/>
                <a:ea typeface="Fredoka"/>
                <a:cs typeface="Fredoka"/>
                <a:sym typeface="Fredoka"/>
              </a:rPr>
              <a:t>Ask</a:t>
            </a:r>
            <a:endParaRPr b="0" i="0" sz="2000" u="none" cap="none" strike="noStrike">
              <a:solidFill>
                <a:schemeClr val="dk1"/>
              </a:solidFill>
              <a:latin typeface="Calibri"/>
              <a:ea typeface="Calibri"/>
              <a:cs typeface="Calibri"/>
              <a:sym typeface="Calibri"/>
            </a:endParaRPr>
          </a:p>
        </p:txBody>
      </p:sp>
      <p:sp>
        <p:nvSpPr>
          <p:cNvPr id="199" name="Google Shape;199;p10"/>
          <p:cNvSpPr/>
          <p:nvPr/>
        </p:nvSpPr>
        <p:spPr>
          <a:xfrm>
            <a:off x="1042159" y="3175000"/>
            <a:ext cx="2182800" cy="2400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96475"/>
              </a:buClr>
              <a:buSzPts val="1300"/>
              <a:buFont typeface="Nunito"/>
              <a:buNone/>
            </a:pPr>
            <a:r>
              <a:rPr b="0" i="0" lang="en-US" sz="1300" u="none" cap="none" strike="noStrike">
                <a:solidFill>
                  <a:srgbClr val="596475"/>
                </a:solidFill>
                <a:latin typeface="Nunito"/>
                <a:ea typeface="Nunito"/>
                <a:cs typeface="Nunito"/>
                <a:sym typeface="Nunito"/>
              </a:rPr>
              <a:t>Agent calls the endpoint</a:t>
            </a:r>
            <a:endParaRPr b="0" i="0" sz="1300" u="none" cap="none" strike="noStrike">
              <a:solidFill>
                <a:schemeClr val="dk1"/>
              </a:solidFill>
              <a:latin typeface="Calibri"/>
              <a:ea typeface="Calibri"/>
              <a:cs typeface="Calibri"/>
              <a:sym typeface="Calibri"/>
            </a:endParaRPr>
          </a:p>
        </p:txBody>
      </p:sp>
      <p:sp>
        <p:nvSpPr>
          <p:cNvPr id="200" name="Google Shape;200;p10"/>
          <p:cNvSpPr/>
          <p:nvPr/>
        </p:nvSpPr>
        <p:spPr>
          <a:xfrm>
            <a:off x="4470400" y="2146300"/>
            <a:ext cx="609600" cy="60960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2</a:t>
            </a:r>
            <a:endParaRPr b="0" i="0" sz="2400" u="none" cap="none" strike="noStrike">
              <a:solidFill>
                <a:schemeClr val="dk1"/>
              </a:solidFill>
              <a:latin typeface="Calibri"/>
              <a:ea typeface="Calibri"/>
              <a:cs typeface="Calibri"/>
              <a:sym typeface="Calibri"/>
            </a:endParaRPr>
          </a:p>
        </p:txBody>
      </p:sp>
      <p:sp>
        <p:nvSpPr>
          <p:cNvPr id="201" name="Google Shape;201;p10"/>
          <p:cNvSpPr/>
          <p:nvPr/>
        </p:nvSpPr>
        <p:spPr>
          <a:xfrm>
            <a:off x="4423732" y="2832100"/>
            <a:ext cx="702900" cy="330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232"/>
              </a:buClr>
              <a:buSzPts val="2000"/>
              <a:buFont typeface="Fredoka"/>
              <a:buNone/>
            </a:pPr>
            <a:r>
              <a:rPr b="1" i="0" lang="en-US" sz="2000" u="none" cap="none" strike="noStrike">
                <a:solidFill>
                  <a:srgbClr val="1F2232"/>
                </a:solidFill>
                <a:latin typeface="Fredoka"/>
                <a:ea typeface="Fredoka"/>
                <a:cs typeface="Fredoka"/>
                <a:sym typeface="Fredoka"/>
              </a:rPr>
              <a:t>Price</a:t>
            </a:r>
            <a:endParaRPr b="0" i="0" sz="2000" u="none" cap="none" strike="noStrike">
              <a:solidFill>
                <a:schemeClr val="dk1"/>
              </a:solidFill>
              <a:latin typeface="Calibri"/>
              <a:ea typeface="Calibri"/>
              <a:cs typeface="Calibri"/>
              <a:sym typeface="Calibri"/>
            </a:endParaRPr>
          </a:p>
        </p:txBody>
      </p:sp>
      <p:sp>
        <p:nvSpPr>
          <p:cNvPr id="202" name="Google Shape;202;p10"/>
          <p:cNvSpPr/>
          <p:nvPr/>
        </p:nvSpPr>
        <p:spPr>
          <a:xfrm>
            <a:off x="3781044" y="3175000"/>
            <a:ext cx="1988400" cy="4545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96475"/>
              </a:buClr>
              <a:buSzPts val="1300"/>
              <a:buFont typeface="Nunito"/>
              <a:buNone/>
            </a:pPr>
            <a:r>
              <a:rPr b="0" i="0" lang="en-US" sz="1300" u="none" cap="none" strike="noStrike">
                <a:solidFill>
                  <a:srgbClr val="596475"/>
                </a:solidFill>
                <a:latin typeface="Nunito"/>
                <a:ea typeface="Nunito"/>
                <a:cs typeface="Nunito"/>
                <a:sym typeface="Nunito"/>
              </a:rPr>
              <a:t>Server replies 402 with a price</a:t>
            </a:r>
            <a:endParaRPr b="0" i="0" sz="1300" u="none" cap="none" strike="noStrike">
              <a:solidFill>
                <a:schemeClr val="dk1"/>
              </a:solidFill>
              <a:latin typeface="Calibri"/>
              <a:ea typeface="Calibri"/>
              <a:cs typeface="Calibri"/>
              <a:sym typeface="Calibri"/>
            </a:endParaRPr>
          </a:p>
        </p:txBody>
      </p:sp>
      <p:sp>
        <p:nvSpPr>
          <p:cNvPr id="203" name="Google Shape;203;p10"/>
          <p:cNvSpPr/>
          <p:nvPr/>
        </p:nvSpPr>
        <p:spPr>
          <a:xfrm>
            <a:off x="7112000" y="2146300"/>
            <a:ext cx="609600" cy="60960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3</a:t>
            </a:r>
            <a:endParaRPr b="0" i="0" sz="2400" u="none" cap="none" strike="noStrike">
              <a:solidFill>
                <a:schemeClr val="dk1"/>
              </a:solidFill>
              <a:latin typeface="Calibri"/>
              <a:ea typeface="Calibri"/>
              <a:cs typeface="Calibri"/>
              <a:sym typeface="Calibri"/>
            </a:endParaRPr>
          </a:p>
        </p:txBody>
      </p:sp>
      <p:sp>
        <p:nvSpPr>
          <p:cNvPr id="204" name="Google Shape;204;p10"/>
          <p:cNvSpPr/>
          <p:nvPr/>
        </p:nvSpPr>
        <p:spPr>
          <a:xfrm>
            <a:off x="7156475" y="2832100"/>
            <a:ext cx="520500" cy="330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232"/>
              </a:buClr>
              <a:buSzPts val="2000"/>
              <a:buFont typeface="Fredoka"/>
              <a:buNone/>
            </a:pPr>
            <a:r>
              <a:rPr b="1" i="0" lang="en-US" sz="2000" u="none" cap="none" strike="noStrike">
                <a:solidFill>
                  <a:srgbClr val="1F2232"/>
                </a:solidFill>
                <a:latin typeface="Fredoka"/>
                <a:ea typeface="Fredoka"/>
                <a:cs typeface="Fredoka"/>
                <a:sym typeface="Fredoka"/>
              </a:rPr>
              <a:t>Pay</a:t>
            </a:r>
            <a:endParaRPr b="0" i="0" sz="2000" u="none" cap="none" strike="noStrike">
              <a:solidFill>
                <a:schemeClr val="dk1"/>
              </a:solidFill>
              <a:latin typeface="Calibri"/>
              <a:ea typeface="Calibri"/>
              <a:cs typeface="Calibri"/>
              <a:sym typeface="Calibri"/>
            </a:endParaRPr>
          </a:p>
        </p:txBody>
      </p:sp>
      <p:sp>
        <p:nvSpPr>
          <p:cNvPr id="205" name="Google Shape;205;p10"/>
          <p:cNvSpPr/>
          <p:nvPr/>
        </p:nvSpPr>
        <p:spPr>
          <a:xfrm>
            <a:off x="6422644" y="3175000"/>
            <a:ext cx="1988400" cy="4545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96475"/>
              </a:buClr>
              <a:buSzPts val="1300"/>
              <a:buFont typeface="Nunito"/>
              <a:buNone/>
            </a:pPr>
            <a:r>
              <a:rPr b="0" i="0" lang="en-US" sz="1300" u="none" cap="none" strike="noStrike">
                <a:solidFill>
                  <a:srgbClr val="596475"/>
                </a:solidFill>
                <a:latin typeface="Nunito"/>
                <a:ea typeface="Nunito"/>
                <a:cs typeface="Nunito"/>
                <a:sym typeface="Nunito"/>
              </a:rPr>
              <a:t>Agent pays on chain and retries</a:t>
            </a:r>
            <a:endParaRPr b="0" i="0" sz="1300" u="none" cap="none" strike="noStrike">
              <a:solidFill>
                <a:schemeClr val="dk1"/>
              </a:solidFill>
              <a:latin typeface="Calibri"/>
              <a:ea typeface="Calibri"/>
              <a:cs typeface="Calibri"/>
              <a:sym typeface="Calibri"/>
            </a:endParaRPr>
          </a:p>
        </p:txBody>
      </p:sp>
      <p:sp>
        <p:nvSpPr>
          <p:cNvPr id="206" name="Google Shape;206;p10"/>
          <p:cNvSpPr/>
          <p:nvPr/>
        </p:nvSpPr>
        <p:spPr>
          <a:xfrm>
            <a:off x="9753600" y="2146300"/>
            <a:ext cx="609600" cy="60960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4</a:t>
            </a:r>
            <a:endParaRPr b="0" i="0" sz="2400" u="none" cap="none" strike="noStrike">
              <a:solidFill>
                <a:schemeClr val="dk1"/>
              </a:solidFill>
              <a:latin typeface="Calibri"/>
              <a:ea typeface="Calibri"/>
              <a:cs typeface="Calibri"/>
              <a:sym typeface="Calibri"/>
            </a:endParaRPr>
          </a:p>
        </p:txBody>
      </p:sp>
      <p:sp>
        <p:nvSpPr>
          <p:cNvPr id="207" name="Google Shape;207;p10"/>
          <p:cNvSpPr/>
          <p:nvPr/>
        </p:nvSpPr>
        <p:spPr>
          <a:xfrm>
            <a:off x="9705737" y="2832100"/>
            <a:ext cx="705300" cy="330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232"/>
              </a:buClr>
              <a:buSzPts val="2000"/>
              <a:buFont typeface="Fredoka"/>
              <a:buNone/>
            </a:pPr>
            <a:r>
              <a:rPr b="1" i="0" lang="en-US" sz="2000" u="none" cap="none" strike="noStrike">
                <a:solidFill>
                  <a:srgbClr val="1F2232"/>
                </a:solidFill>
                <a:latin typeface="Fredoka"/>
                <a:ea typeface="Fredoka"/>
                <a:cs typeface="Fredoka"/>
                <a:sym typeface="Fredoka"/>
              </a:rPr>
              <a:t>Done</a:t>
            </a:r>
            <a:endParaRPr b="0" i="0" sz="2000" u="none" cap="none" strike="noStrike">
              <a:solidFill>
                <a:schemeClr val="dk1"/>
              </a:solidFill>
              <a:latin typeface="Calibri"/>
              <a:ea typeface="Calibri"/>
              <a:cs typeface="Calibri"/>
              <a:sym typeface="Calibri"/>
            </a:endParaRPr>
          </a:p>
        </p:txBody>
      </p:sp>
      <p:sp>
        <p:nvSpPr>
          <p:cNvPr id="208" name="Google Shape;208;p10"/>
          <p:cNvSpPr/>
          <p:nvPr/>
        </p:nvSpPr>
        <p:spPr>
          <a:xfrm>
            <a:off x="8933502" y="3175000"/>
            <a:ext cx="2249700" cy="2400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96475"/>
              </a:buClr>
              <a:buSzPts val="1300"/>
              <a:buFont typeface="Nunito"/>
              <a:buNone/>
            </a:pPr>
            <a:r>
              <a:rPr b="0" i="0" lang="en-US" sz="1300" u="none" cap="none" strike="noStrike">
                <a:solidFill>
                  <a:srgbClr val="596475"/>
                </a:solidFill>
                <a:latin typeface="Nunito"/>
                <a:ea typeface="Nunito"/>
                <a:cs typeface="Nunito"/>
                <a:sym typeface="Nunito"/>
              </a:rPr>
              <a:t>Escrow locks, work starts</a:t>
            </a:r>
            <a:endParaRPr b="0" i="0" sz="1300" u="none" cap="none" strike="noStrike">
              <a:solidFill>
                <a:schemeClr val="dk1"/>
              </a:solidFill>
              <a:latin typeface="Calibri"/>
              <a:ea typeface="Calibri"/>
              <a:cs typeface="Calibri"/>
              <a:sym typeface="Calibri"/>
            </a:endParaRPr>
          </a:p>
        </p:txBody>
      </p:sp>
      <p:sp>
        <p:nvSpPr>
          <p:cNvPr id="209" name="Google Shape;209;p10"/>
          <p:cNvSpPr/>
          <p:nvPr/>
        </p:nvSpPr>
        <p:spPr>
          <a:xfrm>
            <a:off x="819150" y="3752850"/>
            <a:ext cx="3340200" cy="2146200"/>
          </a:xfrm>
          <a:prstGeom prst="roundRect">
            <a:avLst>
              <a:gd fmla="val 13905" name="adj"/>
            </a:avLst>
          </a:prstGeom>
          <a:solidFill>
            <a:srgbClr val="FFFCFC"/>
          </a:solidFill>
          <a:ln cap="flat" cmpd="sng" w="12700">
            <a:solidFill>
              <a:srgbClr val="F3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1104900" y="4013200"/>
            <a:ext cx="1003498" cy="264120"/>
          </a:xfrm>
          <a:custGeom>
            <a:rect b="b" l="l" r="r" t="t"/>
            <a:pathLst>
              <a:path extrusionOk="0" h="264120" w="1003498">
                <a:moveTo>
                  <a:pt x="132060" y="0"/>
                </a:moveTo>
                <a:lnTo>
                  <a:pt x="871438" y="0"/>
                </a:lnTo>
                <a:cubicBezTo>
                  <a:pt x="906462" y="0"/>
                  <a:pt x="940052" y="13913"/>
                  <a:pt x="964819" y="38679"/>
                </a:cubicBezTo>
                <a:cubicBezTo>
                  <a:pt x="989585" y="63446"/>
                  <a:pt x="1003498" y="97036"/>
                  <a:pt x="1003498" y="132060"/>
                </a:cubicBezTo>
                <a:lnTo>
                  <a:pt x="1003498" y="132060"/>
                </a:lnTo>
                <a:cubicBezTo>
                  <a:pt x="1003498" y="204995"/>
                  <a:pt x="944373" y="264120"/>
                  <a:pt x="871438" y="264120"/>
                </a:cubicBezTo>
                <a:lnTo>
                  <a:pt x="132060" y="264120"/>
                </a:lnTo>
                <a:cubicBezTo>
                  <a:pt x="59125" y="264120"/>
                  <a:pt x="0" y="204995"/>
                  <a:pt x="0" y="132060"/>
                </a:cubicBezTo>
                <a:lnTo>
                  <a:pt x="0" y="132060"/>
                </a:lnTo>
                <a:cubicBezTo>
                  <a:pt x="0" y="59125"/>
                  <a:pt x="59125" y="0"/>
                  <a:pt x="132060" y="0"/>
                </a:cubicBezTo>
                <a:close/>
              </a:path>
            </a:pathLst>
          </a:custGeom>
          <a:solidFill>
            <a:srgbClr val="FFF1BF"/>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5C4300"/>
              </a:buClr>
              <a:buSzPts val="1200"/>
              <a:buFont typeface="Nunito"/>
              <a:buNone/>
            </a:pPr>
            <a:r>
              <a:rPr b="1" i="0" lang="en-US" sz="1200" u="none" cap="none" strike="noStrike">
                <a:solidFill>
                  <a:srgbClr val="5C4300"/>
                </a:solidFill>
                <a:latin typeface="Nunito"/>
                <a:ea typeface="Nunito"/>
                <a:cs typeface="Nunito"/>
                <a:sym typeface="Nunito"/>
              </a:rPr>
              <a:t>HTTP 402</a:t>
            </a:r>
            <a:endParaRPr b="0" i="0" sz="1200" u="none" cap="none" strike="noStrike">
              <a:solidFill>
                <a:schemeClr val="dk1"/>
              </a:solidFill>
              <a:latin typeface="Calibri"/>
              <a:ea typeface="Calibri"/>
              <a:cs typeface="Calibri"/>
              <a:sym typeface="Calibri"/>
            </a:endParaRPr>
          </a:p>
        </p:txBody>
      </p:sp>
      <p:sp>
        <p:nvSpPr>
          <p:cNvPr id="211" name="Google Shape;211;p10"/>
          <p:cNvSpPr/>
          <p:nvPr/>
        </p:nvSpPr>
        <p:spPr>
          <a:xfrm>
            <a:off x="1104900" y="4366220"/>
            <a:ext cx="2851800" cy="452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2"/>
              </a:buClr>
              <a:buSzPts val="2800"/>
              <a:buFont typeface="Fredoka"/>
              <a:buNone/>
            </a:pPr>
            <a:r>
              <a:rPr b="1" i="0" lang="en-US" sz="2800" u="none" cap="none" strike="noStrike">
                <a:solidFill>
                  <a:srgbClr val="1F2232"/>
                </a:solidFill>
                <a:latin typeface="Fredoka"/>
                <a:ea typeface="Fredoka"/>
                <a:cs typeface="Fredoka"/>
                <a:sym typeface="Fredoka"/>
              </a:rPr>
              <a:t>x402</a:t>
            </a:r>
            <a:endParaRPr b="0" i="0" sz="2800" u="none" cap="none" strike="noStrike">
              <a:solidFill>
                <a:schemeClr val="dk1"/>
              </a:solidFill>
              <a:latin typeface="Calibri"/>
              <a:ea typeface="Calibri"/>
              <a:cs typeface="Calibri"/>
              <a:sym typeface="Calibri"/>
            </a:endParaRPr>
          </a:p>
        </p:txBody>
      </p:sp>
      <p:sp>
        <p:nvSpPr>
          <p:cNvPr id="212" name="Google Shape;212;p10"/>
          <p:cNvSpPr/>
          <p:nvPr/>
        </p:nvSpPr>
        <p:spPr>
          <a:xfrm>
            <a:off x="1104900" y="4881811"/>
            <a:ext cx="2851800" cy="719700"/>
          </a:xfrm>
          <a:prstGeom prst="rect">
            <a:avLst/>
          </a:prstGeom>
          <a:noFill/>
          <a:ln>
            <a:noFill/>
          </a:ln>
        </p:spPr>
        <p:txBody>
          <a:bodyPr anchorCtr="0" anchor="t" bIns="0" lIns="0" spcFirstLastPara="1" rIns="0" wrap="square" tIns="0">
            <a:noAutofit/>
          </a:bodyPr>
          <a:lstStyle/>
          <a:p>
            <a:pPr indent="0" lvl="0" marL="0" marR="0" rtl="0" algn="l">
              <a:lnSpc>
                <a:spcPct val="135037"/>
              </a:lnSpc>
              <a:spcBef>
                <a:spcPts val="0"/>
              </a:spcBef>
              <a:spcAft>
                <a:spcPts val="0"/>
              </a:spcAft>
              <a:buClr>
                <a:srgbClr val="596475"/>
              </a:buClr>
              <a:buSzPts val="1350"/>
              <a:buFont typeface="Nunito"/>
              <a:buNone/>
            </a:pPr>
            <a:r>
              <a:rPr b="0" i="0" lang="en-US" sz="1350" u="none" cap="none" strike="noStrike">
                <a:solidFill>
                  <a:srgbClr val="596475"/>
                </a:solidFill>
                <a:latin typeface="Nunito"/>
                <a:ea typeface="Nunito"/>
                <a:cs typeface="Nunito"/>
                <a:sym typeface="Nunito"/>
              </a:rPr>
              <a:t>Pay per request over plain HTTP. No accounts, no API keys. Any agent can pay.</a:t>
            </a:r>
            <a:endParaRPr b="0" i="0" sz="1350" u="none" cap="none" strike="noStrike">
              <a:solidFill>
                <a:schemeClr val="dk1"/>
              </a:solidFill>
              <a:latin typeface="Calibri"/>
              <a:ea typeface="Calibri"/>
              <a:cs typeface="Calibri"/>
              <a:sym typeface="Calibri"/>
            </a:endParaRPr>
          </a:p>
        </p:txBody>
      </p:sp>
      <p:sp>
        <p:nvSpPr>
          <p:cNvPr id="213" name="Google Shape;213;p10"/>
          <p:cNvSpPr/>
          <p:nvPr/>
        </p:nvSpPr>
        <p:spPr>
          <a:xfrm>
            <a:off x="4419600" y="3746500"/>
            <a:ext cx="3352800" cy="2159100"/>
          </a:xfrm>
          <a:prstGeom prst="roundRect">
            <a:avLst>
              <a:gd fmla="val 14118" name="adj"/>
            </a:avLst>
          </a:prstGeom>
          <a:solidFill>
            <a:srgbClr val="1F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
          <p:cNvSpPr/>
          <p:nvPr/>
        </p:nvSpPr>
        <p:spPr>
          <a:xfrm>
            <a:off x="4699000" y="4000500"/>
            <a:ext cx="1108472" cy="264120"/>
          </a:xfrm>
          <a:custGeom>
            <a:rect b="b" l="l" r="r" t="t"/>
            <a:pathLst>
              <a:path extrusionOk="0" h="264120" w="1108472">
                <a:moveTo>
                  <a:pt x="132060" y="0"/>
                </a:moveTo>
                <a:lnTo>
                  <a:pt x="976412" y="0"/>
                </a:lnTo>
                <a:cubicBezTo>
                  <a:pt x="1011436" y="0"/>
                  <a:pt x="1045026" y="13913"/>
                  <a:pt x="1069793" y="38679"/>
                </a:cubicBezTo>
                <a:cubicBezTo>
                  <a:pt x="1094559" y="63446"/>
                  <a:pt x="1108472" y="97036"/>
                  <a:pt x="1108472" y="132060"/>
                </a:cubicBezTo>
                <a:lnTo>
                  <a:pt x="1108472" y="132060"/>
                </a:lnTo>
                <a:cubicBezTo>
                  <a:pt x="1108472" y="204995"/>
                  <a:pt x="1049347" y="264120"/>
                  <a:pt x="976412" y="264120"/>
                </a:cubicBezTo>
                <a:lnTo>
                  <a:pt x="132060" y="264120"/>
                </a:lnTo>
                <a:cubicBezTo>
                  <a:pt x="59125" y="264120"/>
                  <a:pt x="0" y="204995"/>
                  <a:pt x="0" y="132060"/>
                </a:cubicBezTo>
                <a:lnTo>
                  <a:pt x="0" y="132060"/>
                </a:lnTo>
                <a:cubicBezTo>
                  <a:pt x="0" y="59125"/>
                  <a:pt x="59125" y="0"/>
                  <a:pt x="132060" y="0"/>
                </a:cubicBezTo>
                <a:close/>
              </a:path>
            </a:pathLst>
          </a:cu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1200"/>
              <a:buFont typeface="Nunito"/>
              <a:buNone/>
            </a:pPr>
            <a:r>
              <a:rPr b="1" i="0" lang="en-US" sz="1200" u="none" cap="none" strike="noStrike">
                <a:solidFill>
                  <a:srgbClr val="1F2232"/>
                </a:solidFill>
                <a:latin typeface="Nunito"/>
                <a:ea typeface="Nunito"/>
                <a:cs typeface="Nunito"/>
                <a:sym typeface="Nunito"/>
              </a:rPr>
              <a:t>Primary rail</a:t>
            </a:r>
            <a:endParaRPr b="0" i="0" sz="1200" u="none" cap="none" strike="noStrike">
              <a:solidFill>
                <a:schemeClr val="dk1"/>
              </a:solidFill>
              <a:latin typeface="Calibri"/>
              <a:ea typeface="Calibri"/>
              <a:cs typeface="Calibri"/>
              <a:sym typeface="Calibri"/>
            </a:endParaRPr>
          </a:p>
        </p:txBody>
      </p:sp>
      <p:sp>
        <p:nvSpPr>
          <p:cNvPr id="215" name="Google Shape;215;p10"/>
          <p:cNvSpPr/>
          <p:nvPr/>
        </p:nvSpPr>
        <p:spPr>
          <a:xfrm>
            <a:off x="4699000" y="4353520"/>
            <a:ext cx="2877900" cy="452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DE8E9"/>
              </a:buClr>
              <a:buSzPts val="2800"/>
              <a:buFont typeface="Fredoka"/>
              <a:buNone/>
            </a:pPr>
            <a:r>
              <a:rPr b="1" i="0" lang="en-US" sz="2800" u="none" cap="none" strike="noStrike">
                <a:solidFill>
                  <a:srgbClr val="FDE8E9"/>
                </a:solidFill>
                <a:latin typeface="Fredoka"/>
                <a:ea typeface="Fredoka"/>
                <a:cs typeface="Fredoka"/>
                <a:sym typeface="Fredoka"/>
              </a:rPr>
              <a:t>Cardano</a:t>
            </a:r>
            <a:endParaRPr b="0" i="0" sz="2800" u="none" cap="none" strike="noStrike">
              <a:solidFill>
                <a:schemeClr val="dk1"/>
              </a:solidFill>
              <a:latin typeface="Calibri"/>
              <a:ea typeface="Calibri"/>
              <a:cs typeface="Calibri"/>
              <a:sym typeface="Calibri"/>
            </a:endParaRPr>
          </a:p>
        </p:txBody>
      </p:sp>
      <p:sp>
        <p:nvSpPr>
          <p:cNvPr id="216" name="Google Shape;216;p10"/>
          <p:cNvSpPr/>
          <p:nvPr/>
        </p:nvSpPr>
        <p:spPr>
          <a:xfrm>
            <a:off x="4699000" y="4869111"/>
            <a:ext cx="2877900" cy="719700"/>
          </a:xfrm>
          <a:prstGeom prst="rect">
            <a:avLst/>
          </a:prstGeom>
          <a:noFill/>
          <a:ln>
            <a:noFill/>
          </a:ln>
        </p:spPr>
        <p:txBody>
          <a:bodyPr anchorCtr="0" anchor="t" bIns="0" lIns="0" spcFirstLastPara="1" rIns="0" wrap="square" tIns="0">
            <a:noAutofit/>
          </a:bodyPr>
          <a:lstStyle/>
          <a:p>
            <a:pPr indent="0" lvl="0" marL="0" marR="0" rtl="0" algn="l">
              <a:lnSpc>
                <a:spcPct val="135037"/>
              </a:lnSpc>
              <a:spcBef>
                <a:spcPts val="0"/>
              </a:spcBef>
              <a:spcAft>
                <a:spcPts val="0"/>
              </a:spcAft>
              <a:buClr>
                <a:srgbClr val="E3BAC6"/>
              </a:buClr>
              <a:buSzPts val="1350"/>
              <a:buFont typeface="Nunito"/>
              <a:buNone/>
            </a:pPr>
            <a:r>
              <a:rPr b="0" i="0" lang="en-US" sz="1350" u="none" cap="none" strike="noStrike">
                <a:solidFill>
                  <a:srgbClr val="E3BAC6"/>
                </a:solidFill>
                <a:latin typeface="Nunito"/>
                <a:ea typeface="Nunito"/>
                <a:cs typeface="Nunito"/>
                <a:sym typeface="Nunito"/>
              </a:rPr>
              <a:t>USDM and USDCx through Masumi: escrow, refunds, disputes, agent identity.</a:t>
            </a:r>
            <a:endParaRPr b="0" i="0" sz="1350" u="none" cap="none" strike="noStrike">
              <a:solidFill>
                <a:schemeClr val="dk1"/>
              </a:solidFill>
              <a:latin typeface="Calibri"/>
              <a:ea typeface="Calibri"/>
              <a:cs typeface="Calibri"/>
              <a:sym typeface="Calibri"/>
            </a:endParaRPr>
          </a:p>
        </p:txBody>
      </p:sp>
      <p:sp>
        <p:nvSpPr>
          <p:cNvPr id="217" name="Google Shape;217;p10"/>
          <p:cNvSpPr/>
          <p:nvPr/>
        </p:nvSpPr>
        <p:spPr>
          <a:xfrm>
            <a:off x="8026400" y="3746500"/>
            <a:ext cx="3352800" cy="2159100"/>
          </a:xfrm>
          <a:prstGeom prst="roundRect">
            <a:avLst>
              <a:gd fmla="val 14118" name="adj"/>
            </a:avLst>
          </a:prstGeom>
          <a:solidFill>
            <a:srgbClr val="1F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
          <p:cNvSpPr/>
          <p:nvPr/>
        </p:nvSpPr>
        <p:spPr>
          <a:xfrm>
            <a:off x="8305800" y="4000500"/>
            <a:ext cx="1241673" cy="264120"/>
          </a:xfrm>
          <a:custGeom>
            <a:rect b="b" l="l" r="r" t="t"/>
            <a:pathLst>
              <a:path extrusionOk="0" h="264120" w="1241673">
                <a:moveTo>
                  <a:pt x="132060" y="0"/>
                </a:moveTo>
                <a:lnTo>
                  <a:pt x="1109613" y="0"/>
                </a:lnTo>
                <a:cubicBezTo>
                  <a:pt x="1144637" y="0"/>
                  <a:pt x="1178227" y="13913"/>
                  <a:pt x="1202994" y="38679"/>
                </a:cubicBezTo>
                <a:cubicBezTo>
                  <a:pt x="1227760" y="63446"/>
                  <a:pt x="1241673" y="97036"/>
                  <a:pt x="1241673" y="132060"/>
                </a:cubicBezTo>
                <a:lnTo>
                  <a:pt x="1241673" y="132060"/>
                </a:lnTo>
                <a:cubicBezTo>
                  <a:pt x="1241673" y="204995"/>
                  <a:pt x="1182548" y="264120"/>
                  <a:pt x="1109613" y="264120"/>
                </a:cubicBezTo>
                <a:lnTo>
                  <a:pt x="132060" y="264120"/>
                </a:lnTo>
                <a:cubicBezTo>
                  <a:pt x="59125" y="264120"/>
                  <a:pt x="0" y="204995"/>
                  <a:pt x="0" y="132060"/>
                </a:cubicBezTo>
                <a:lnTo>
                  <a:pt x="0" y="132060"/>
                </a:lnTo>
                <a:cubicBezTo>
                  <a:pt x="0" y="59125"/>
                  <a:pt x="59125" y="0"/>
                  <a:pt x="132060" y="0"/>
                </a:cubicBezTo>
                <a:close/>
              </a:path>
            </a:pathLst>
          </a:cu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1200"/>
              <a:buFont typeface="Nunito"/>
              <a:buNone/>
            </a:pPr>
            <a:r>
              <a:rPr b="1" i="0" lang="en-US" sz="1200" u="none" cap="none" strike="noStrike">
                <a:solidFill>
                  <a:srgbClr val="1F2232"/>
                </a:solidFill>
                <a:latin typeface="Nunito"/>
                <a:ea typeface="Nunito"/>
                <a:cs typeface="Nunito"/>
                <a:sym typeface="Nunito"/>
              </a:rPr>
              <a:t>Config switch</a:t>
            </a:r>
            <a:endParaRPr b="0" i="0" sz="1200" u="none" cap="none" strike="noStrike">
              <a:solidFill>
                <a:schemeClr val="dk1"/>
              </a:solidFill>
              <a:latin typeface="Calibri"/>
              <a:ea typeface="Calibri"/>
              <a:cs typeface="Calibri"/>
              <a:sym typeface="Calibri"/>
            </a:endParaRPr>
          </a:p>
        </p:txBody>
      </p:sp>
      <p:sp>
        <p:nvSpPr>
          <p:cNvPr id="219" name="Google Shape;219;p10"/>
          <p:cNvSpPr/>
          <p:nvPr/>
        </p:nvSpPr>
        <p:spPr>
          <a:xfrm>
            <a:off x="8305800" y="4353520"/>
            <a:ext cx="2877900" cy="452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DE8E9"/>
              </a:buClr>
              <a:buSzPts val="2800"/>
              <a:buFont typeface="Fredoka"/>
              <a:buNone/>
            </a:pPr>
            <a:r>
              <a:rPr b="1" i="0" lang="en-US" sz="2800" u="none" cap="none" strike="noStrike">
                <a:solidFill>
                  <a:srgbClr val="FDE8E9"/>
                </a:solidFill>
                <a:latin typeface="Fredoka"/>
                <a:ea typeface="Fredoka"/>
                <a:cs typeface="Fredoka"/>
                <a:sym typeface="Fredoka"/>
              </a:rPr>
              <a:t>Solana</a:t>
            </a:r>
            <a:endParaRPr b="0" i="0" sz="2800" u="none" cap="none" strike="noStrike">
              <a:solidFill>
                <a:schemeClr val="dk1"/>
              </a:solidFill>
              <a:latin typeface="Calibri"/>
              <a:ea typeface="Calibri"/>
              <a:cs typeface="Calibri"/>
              <a:sym typeface="Calibri"/>
            </a:endParaRPr>
          </a:p>
        </p:txBody>
      </p:sp>
      <p:sp>
        <p:nvSpPr>
          <p:cNvPr id="220" name="Google Shape;220;p10"/>
          <p:cNvSpPr/>
          <p:nvPr/>
        </p:nvSpPr>
        <p:spPr>
          <a:xfrm>
            <a:off x="8305800" y="4869111"/>
            <a:ext cx="2877900" cy="719700"/>
          </a:xfrm>
          <a:prstGeom prst="rect">
            <a:avLst/>
          </a:prstGeom>
          <a:noFill/>
          <a:ln>
            <a:noFill/>
          </a:ln>
        </p:spPr>
        <p:txBody>
          <a:bodyPr anchorCtr="0" anchor="t" bIns="0" lIns="0" spcFirstLastPara="1" rIns="0" wrap="square" tIns="0">
            <a:noAutofit/>
          </a:bodyPr>
          <a:lstStyle/>
          <a:p>
            <a:pPr indent="0" lvl="0" marL="0" marR="0" rtl="0" algn="l">
              <a:lnSpc>
                <a:spcPct val="135037"/>
              </a:lnSpc>
              <a:spcBef>
                <a:spcPts val="0"/>
              </a:spcBef>
              <a:spcAft>
                <a:spcPts val="0"/>
              </a:spcAft>
              <a:buClr>
                <a:srgbClr val="E3BAC6"/>
              </a:buClr>
              <a:buSzPts val="1350"/>
              <a:buFont typeface="Nunito"/>
              <a:buNone/>
            </a:pPr>
            <a:r>
              <a:rPr b="0" i="0" lang="en-US" sz="1350" u="none" cap="none" strike="noStrike">
                <a:solidFill>
                  <a:srgbClr val="E3BAC6"/>
                </a:solidFill>
                <a:latin typeface="Nunito"/>
                <a:ea typeface="Nunito"/>
                <a:cs typeface="Nunito"/>
                <a:sym typeface="Nunito"/>
              </a:rPr>
              <a:t>The same flow with USDC on Devnet and Mainnet Beta. Funds release after the verifier passes.</a:t>
            </a:r>
            <a:endParaRPr b="0" i="0" sz="1350" u="none" cap="none" strike="noStrike">
              <a:solidFill>
                <a:schemeClr val="dk1"/>
              </a:solidFill>
              <a:latin typeface="Calibri"/>
              <a:ea typeface="Calibri"/>
              <a:cs typeface="Calibri"/>
              <a:sym typeface="Calibri"/>
            </a:endParaRPr>
          </a:p>
        </p:txBody>
      </p:sp>
      <p:sp>
        <p:nvSpPr>
          <p:cNvPr id="221" name="Google Shape;221;p10"/>
          <p:cNvSpPr/>
          <p:nvPr/>
        </p:nvSpPr>
        <p:spPr>
          <a:xfrm>
            <a:off x="654304" y="6108700"/>
            <a:ext cx="10883400" cy="3099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596475"/>
              </a:buClr>
              <a:buSzPts val="1600"/>
              <a:buFont typeface="Nunito"/>
              <a:buNone/>
            </a:pPr>
            <a:r>
              <a:rPr b="0" i="0" lang="en-US" sz="1600" u="none" cap="none" strike="noStrike">
                <a:solidFill>
                  <a:srgbClr val="596475"/>
                </a:solidFill>
                <a:latin typeface="Nunito"/>
                <a:ea typeface="Nunito"/>
                <a:cs typeface="Nunito"/>
                <a:sym typeface="Nunito"/>
              </a:rPr>
              <a:t>The product does not change when the chain does.</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232"/>
        </a:solidFill>
      </p:bgPr>
    </p:bg>
    <p:spTree>
      <p:nvGrpSpPr>
        <p:cNvPr id="226" name="Shape 226"/>
        <p:cNvGrpSpPr/>
        <p:nvPr/>
      </p:nvGrpSpPr>
      <p:grpSpPr>
        <a:xfrm>
          <a:off x="0" y="0"/>
          <a:ext cx="0" cy="0"/>
          <a:chOff x="0" y="0"/>
          <a:chExt cx="0" cy="0"/>
        </a:xfrm>
      </p:grpSpPr>
      <p:sp>
        <p:nvSpPr>
          <p:cNvPr id="227" name="Google Shape;227;p11"/>
          <p:cNvSpPr/>
          <p:nvPr/>
        </p:nvSpPr>
        <p:spPr>
          <a:xfrm>
            <a:off x="5557366" y="609600"/>
            <a:ext cx="1077218" cy="25653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E3BAC6"/>
              </a:buClr>
              <a:buSzPts val="1300"/>
              <a:buFont typeface="Nunito"/>
              <a:buNone/>
            </a:pPr>
            <a:r>
              <a:rPr b="1" i="0" lang="en-US" sz="1300" u="none" cap="none" strike="noStrike">
                <a:solidFill>
                  <a:srgbClr val="E3BAC6"/>
                </a:solidFill>
                <a:latin typeface="Nunito"/>
                <a:ea typeface="Nunito"/>
                <a:cs typeface="Nunito"/>
                <a:sym typeface="Nunito"/>
              </a:rPr>
              <a:t>LIVE DEMO</a:t>
            </a:r>
            <a:endParaRPr b="0" i="0" sz="1300" u="none" cap="none" strike="noStrike">
              <a:solidFill>
                <a:schemeClr val="dk1"/>
              </a:solidFill>
              <a:latin typeface="Calibri"/>
              <a:ea typeface="Calibri"/>
              <a:cs typeface="Calibri"/>
              <a:sym typeface="Calibri"/>
            </a:endParaRPr>
          </a:p>
        </p:txBody>
      </p:sp>
      <p:sp>
        <p:nvSpPr>
          <p:cNvPr id="228" name="Google Shape;228;p11"/>
          <p:cNvSpPr/>
          <p:nvPr/>
        </p:nvSpPr>
        <p:spPr>
          <a:xfrm>
            <a:off x="2761238" y="942330"/>
            <a:ext cx="6669524" cy="75183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FDE8E9"/>
              </a:buClr>
              <a:buSzPts val="5200"/>
              <a:buFont typeface="Fredoka"/>
              <a:buNone/>
            </a:pPr>
            <a:r>
              <a:rPr b="1" i="0" lang="en-US" sz="5200" u="none" cap="none" strike="noStrike">
                <a:solidFill>
                  <a:srgbClr val="FDE8E9"/>
                </a:solidFill>
                <a:latin typeface="Fredoka"/>
                <a:ea typeface="Fredoka"/>
                <a:cs typeface="Fredoka"/>
                <a:sym typeface="Fredoka"/>
              </a:rPr>
              <a:t>Let's hire a human.</a:t>
            </a:r>
            <a:endParaRPr b="0" i="0" sz="5200" u="none" cap="none" strike="noStrike">
              <a:solidFill>
                <a:schemeClr val="dk1"/>
              </a:solidFill>
              <a:latin typeface="Calibri"/>
              <a:ea typeface="Calibri"/>
              <a:cs typeface="Calibri"/>
              <a:sym typeface="Calibri"/>
            </a:endParaRPr>
          </a:p>
        </p:txBody>
      </p:sp>
      <p:pic>
        <p:nvPicPr>
          <p:cNvPr id="229" name="Google Shape;229;p11" title="haas-hand-wink.png"/>
          <p:cNvPicPr preferRelativeResize="0"/>
          <p:nvPr/>
        </p:nvPicPr>
        <p:blipFill>
          <a:blip r:embed="rId3">
            <a:alphaModFix/>
          </a:blip>
          <a:stretch>
            <a:fillRect/>
          </a:stretch>
        </p:blipFill>
        <p:spPr>
          <a:xfrm>
            <a:off x="3057823" y="942325"/>
            <a:ext cx="6606125" cy="6606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232"/>
        </a:solidFill>
      </p:bgPr>
    </p:bg>
    <p:spTree>
      <p:nvGrpSpPr>
        <p:cNvPr id="234" name="Shape 234"/>
        <p:cNvGrpSpPr/>
        <p:nvPr/>
      </p:nvGrpSpPr>
      <p:grpSpPr>
        <a:xfrm>
          <a:off x="0" y="0"/>
          <a:ext cx="0" cy="0"/>
          <a:chOff x="0" y="0"/>
          <a:chExt cx="0" cy="0"/>
        </a:xfrm>
      </p:grpSpPr>
      <p:sp>
        <p:nvSpPr>
          <p:cNvPr id="235" name="Google Shape;235;p12"/>
          <p:cNvSpPr/>
          <p:nvPr/>
        </p:nvSpPr>
        <p:spPr>
          <a:xfrm>
            <a:off x="7683500" y="952500"/>
            <a:ext cx="3302000" cy="3302000"/>
          </a:xfrm>
          <a:prstGeom prst="roundRect">
            <a:avLst>
              <a:gd fmla="val 49231" name="adj"/>
            </a:avLst>
          </a:prstGeom>
          <a:solidFill>
            <a:srgbClr val="FDE8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
          <p:cNvSpPr/>
          <p:nvPr/>
        </p:nvSpPr>
        <p:spPr>
          <a:xfrm>
            <a:off x="812800" y="3810000"/>
            <a:ext cx="6540500" cy="3885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3BAC6"/>
              </a:buClr>
              <a:buSzPts val="2200"/>
              <a:buFont typeface="Nunito"/>
              <a:buNone/>
            </a:pPr>
            <a:r>
              <a:rPr b="0" i="0" lang="en-US" sz="2200" u="none" cap="none" strike="noStrike">
                <a:solidFill>
                  <a:srgbClr val="E3BAC6"/>
                </a:solidFill>
                <a:latin typeface="Nunito"/>
                <a:ea typeface="Nunito"/>
                <a:cs typeface="Nunito"/>
                <a:sym typeface="Nunito"/>
              </a:rPr>
              <a:t>Any agent. Any task. A verified human.</a:t>
            </a:r>
            <a:endParaRPr b="0" i="0" sz="2200" u="none" cap="none" strike="noStrike">
              <a:solidFill>
                <a:schemeClr val="dk1"/>
              </a:solidFill>
              <a:latin typeface="Calibri"/>
              <a:ea typeface="Calibri"/>
              <a:cs typeface="Calibri"/>
              <a:sym typeface="Calibri"/>
            </a:endParaRPr>
          </a:p>
        </p:txBody>
      </p:sp>
      <p:sp>
        <p:nvSpPr>
          <p:cNvPr id="237" name="Google Shape;237;p12"/>
          <p:cNvSpPr/>
          <p:nvPr/>
        </p:nvSpPr>
        <p:spPr>
          <a:xfrm>
            <a:off x="812800" y="4572000"/>
            <a:ext cx="1402110" cy="62989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Scout</a:t>
            </a:r>
            <a:endParaRPr b="0" i="0" sz="2400" u="none" cap="none" strike="noStrike">
              <a:solidFill>
                <a:schemeClr val="dk1"/>
              </a:solidFill>
              <a:latin typeface="Calibri"/>
              <a:ea typeface="Calibri"/>
              <a:cs typeface="Calibri"/>
              <a:sym typeface="Calibri"/>
            </a:endParaRPr>
          </a:p>
        </p:txBody>
      </p:sp>
      <p:sp>
        <p:nvSpPr>
          <p:cNvPr id="238" name="Google Shape;238;p12"/>
          <p:cNvSpPr/>
          <p:nvPr/>
        </p:nvSpPr>
        <p:spPr>
          <a:xfrm>
            <a:off x="2367310" y="4572000"/>
            <a:ext cx="1262509" cy="629890"/>
          </a:xfrm>
          <a:prstGeom prst="roundRect">
            <a:avLst>
              <a:gd fmla="val 50000" name="adj"/>
            </a:avLst>
          </a:prstGeom>
          <a:solidFill>
            <a:srgbClr val="E3BAC6"/>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Lock</a:t>
            </a:r>
            <a:endParaRPr b="0" i="0" sz="2400" u="none" cap="none" strike="noStrike">
              <a:solidFill>
                <a:schemeClr val="dk1"/>
              </a:solidFill>
              <a:latin typeface="Calibri"/>
              <a:ea typeface="Calibri"/>
              <a:cs typeface="Calibri"/>
              <a:sym typeface="Calibri"/>
            </a:endParaRPr>
          </a:p>
        </p:txBody>
      </p:sp>
      <p:sp>
        <p:nvSpPr>
          <p:cNvPr id="239" name="Google Shape;239;p12"/>
          <p:cNvSpPr/>
          <p:nvPr/>
        </p:nvSpPr>
        <p:spPr>
          <a:xfrm>
            <a:off x="3782219" y="4572000"/>
            <a:ext cx="1475581" cy="629890"/>
          </a:xfrm>
          <a:prstGeom prst="roundRect">
            <a:avLst>
              <a:gd fmla="val 50000" name="adj"/>
            </a:avLst>
          </a:prstGeom>
          <a:solidFill>
            <a:srgbClr val="FDE8E9"/>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2232"/>
              </a:buClr>
              <a:buSzPts val="2400"/>
              <a:buFont typeface="Fredoka"/>
              <a:buNone/>
            </a:pPr>
            <a:r>
              <a:rPr b="1" i="0" lang="en-US" sz="2400" u="none" cap="none" strike="noStrike">
                <a:solidFill>
                  <a:srgbClr val="1F2232"/>
                </a:solidFill>
                <a:latin typeface="Fredoka"/>
                <a:ea typeface="Fredoka"/>
                <a:cs typeface="Fredoka"/>
                <a:sym typeface="Fredoka"/>
              </a:rPr>
              <a:t>Verify</a:t>
            </a:r>
            <a:endParaRPr b="0" i="0" sz="2400" u="none" cap="none" strike="noStrike">
              <a:solidFill>
                <a:schemeClr val="dk1"/>
              </a:solidFill>
              <a:latin typeface="Calibri"/>
              <a:ea typeface="Calibri"/>
              <a:cs typeface="Calibri"/>
              <a:sym typeface="Calibri"/>
            </a:endParaRPr>
          </a:p>
        </p:txBody>
      </p:sp>
      <p:sp>
        <p:nvSpPr>
          <p:cNvPr id="240" name="Google Shape;240;p12"/>
          <p:cNvSpPr/>
          <p:nvPr/>
        </p:nvSpPr>
        <p:spPr>
          <a:xfrm>
            <a:off x="7633970" y="4826000"/>
            <a:ext cx="3401060" cy="4165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DE8E9"/>
              </a:buClr>
              <a:buSzPts val="2200"/>
              <a:buFont typeface="Fredoka"/>
              <a:buNone/>
            </a:pPr>
            <a:r>
              <a:rPr b="1" i="0" lang="en-US" sz="2200" u="none" cap="none" strike="noStrike">
                <a:solidFill>
                  <a:srgbClr val="FDE8E9"/>
                </a:solidFill>
                <a:latin typeface="Fredoka"/>
                <a:ea typeface="Fredoka"/>
                <a:cs typeface="Fredoka"/>
                <a:sym typeface="Fredoka"/>
              </a:rPr>
              <a:t>Thank you</a:t>
            </a:r>
            <a:endParaRPr b="0" i="0" sz="2200" u="none" cap="none" strike="noStrike">
              <a:solidFill>
                <a:schemeClr val="dk1"/>
              </a:solidFill>
              <a:latin typeface="Calibri"/>
              <a:ea typeface="Calibri"/>
              <a:cs typeface="Calibri"/>
              <a:sym typeface="Calibri"/>
            </a:endParaRPr>
          </a:p>
        </p:txBody>
      </p:sp>
      <p:sp>
        <p:nvSpPr>
          <p:cNvPr id="241" name="Google Shape;241;p12"/>
          <p:cNvSpPr/>
          <p:nvPr/>
        </p:nvSpPr>
        <p:spPr>
          <a:xfrm>
            <a:off x="812800" y="1834150"/>
            <a:ext cx="7179300" cy="1558800"/>
          </a:xfrm>
          <a:prstGeom prst="rect">
            <a:avLst/>
          </a:prstGeom>
          <a:noFill/>
          <a:ln>
            <a:noFill/>
          </a:ln>
        </p:spPr>
        <p:txBody>
          <a:bodyPr anchorCtr="0" anchor="t" bIns="0" lIns="0" spcFirstLastPara="1" rIns="0" wrap="square" tIns="0">
            <a:noAutofit/>
          </a:bodyPr>
          <a:lstStyle/>
          <a:p>
            <a:pPr indent="0" lvl="0" marL="0" marR="0" rtl="0" algn="l">
              <a:lnSpc>
                <a:spcPct val="105008"/>
              </a:lnSpc>
              <a:spcBef>
                <a:spcPts val="0"/>
              </a:spcBef>
              <a:spcAft>
                <a:spcPts val="0"/>
              </a:spcAft>
              <a:buClr>
                <a:srgbClr val="FDE8E9"/>
              </a:buClr>
              <a:buSzPts val="5750"/>
              <a:buFont typeface="Fredoka"/>
              <a:buNone/>
            </a:pPr>
            <a:r>
              <a:rPr b="1" i="0" lang="en-US" sz="5750" u="none" cap="none" strike="noStrike">
                <a:solidFill>
                  <a:srgbClr val="FDE8E9"/>
                </a:solidFill>
                <a:latin typeface="Fredoka"/>
                <a:ea typeface="Fredoka"/>
                <a:cs typeface="Fredoka"/>
                <a:sym typeface="Fredoka"/>
              </a:rPr>
              <a:t>Agents think.</a:t>
            </a:r>
            <a:endParaRPr b="0" i="0" sz="5750" u="none" cap="none" strike="noStrike">
              <a:solidFill>
                <a:schemeClr val="dk1"/>
              </a:solidFill>
              <a:latin typeface="Calibri"/>
              <a:ea typeface="Calibri"/>
              <a:cs typeface="Calibri"/>
              <a:sym typeface="Calibri"/>
            </a:endParaRPr>
          </a:p>
          <a:p>
            <a:pPr indent="0" lvl="0" marL="0" marR="0" rtl="0" algn="l">
              <a:lnSpc>
                <a:spcPct val="105008"/>
              </a:lnSpc>
              <a:spcBef>
                <a:spcPts val="0"/>
              </a:spcBef>
              <a:spcAft>
                <a:spcPts val="0"/>
              </a:spcAft>
              <a:buClr>
                <a:srgbClr val="FDE8E9"/>
              </a:buClr>
              <a:buSzPts val="5750"/>
              <a:buFont typeface="Fredoka"/>
              <a:buNone/>
            </a:pPr>
            <a:r>
              <a:rPr b="1" i="0" lang="en-US" sz="5750" u="none" cap="none" strike="noStrike">
                <a:solidFill>
                  <a:srgbClr val="FDE8E9"/>
                </a:solidFill>
                <a:latin typeface="Fredoka"/>
                <a:ea typeface="Fredoka"/>
                <a:cs typeface="Fredoka"/>
                <a:sym typeface="Fredoka"/>
              </a:rPr>
              <a:t>We give them hands.</a:t>
            </a:r>
            <a:endParaRPr b="0" i="0" sz="5750" u="none" cap="none" strike="noStrike">
              <a:solidFill>
                <a:schemeClr val="dk1"/>
              </a:solidFill>
              <a:latin typeface="Calibri"/>
              <a:ea typeface="Calibri"/>
              <a:cs typeface="Calibri"/>
              <a:sym typeface="Calibri"/>
            </a:endParaRPr>
          </a:p>
        </p:txBody>
      </p:sp>
      <p:pic>
        <p:nvPicPr>
          <p:cNvPr id="242" name="Google Shape;242;p12" title="haas-hand-wave (1).gif"/>
          <p:cNvPicPr preferRelativeResize="0"/>
          <p:nvPr/>
        </p:nvPicPr>
        <p:blipFill>
          <a:blip r:embed="rId3">
            <a:alphaModFix/>
          </a:blip>
          <a:stretch>
            <a:fillRect/>
          </a:stretch>
        </p:blipFill>
        <p:spPr>
          <a:xfrm>
            <a:off x="7683500" y="835550"/>
            <a:ext cx="3556000" cy="3556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